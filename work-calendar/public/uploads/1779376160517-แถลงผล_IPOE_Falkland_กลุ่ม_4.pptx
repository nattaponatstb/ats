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12192000" cy="6858000"/>
  <p:notesSz cx="6858000" cy="9144000"/>
  <p:embeddedFontLst>
    <p:embeddedFont>
      <p:font typeface="Sarabun" panose="020B0604020202020204" charset="-34"/>
      <p:regular r:id="rId78"/>
      <p:bold r:id="rId79"/>
      <p:italic r:id="rId80"/>
      <p:boldItalic r:id="rId81"/>
    </p:embeddedFont>
    <p:embeddedFont>
      <p:font typeface="TH SarabunPSK" panose="020B0500040200020003" pitchFamily="34" charset="-34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hMpRp++HKfy1Du6X5Kva7IXyJN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30F057-DA0B-4B6E-A13B-11780AF4890F}">
  <a:tblStyle styleId="{4E30F057-DA0B-4B6E-A13B-11780AF489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84385" y="379993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rabun"/>
              <a:buNone/>
            </a:pP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การแถลงผลการสัมมนา กลุ่มสัมมนาที่ ๔</a:t>
            </a:r>
            <a:b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</a:b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หัวข้อวิชา </a:t>
            </a:r>
            <a:r>
              <a:rPr lang="th-TH" sz="2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</a:t>
            </a:r>
            <a:b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</a:b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รายวิชา งานเสนาธิการกิจในการวางแผนทางทหาร</a:t>
            </a:r>
            <a:b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</a:b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ตอนวิชา การวางแผนทางทหารในการปฏิบัติการร่วม</a:t>
            </a:r>
            <a:b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</a:b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หมวดวิชา เสนาธิการกิจ</a:t>
            </a:r>
            <a:b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</a:br>
            <a:r>
              <a:rPr lang="th-TH" sz="2800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หลักสูตร สธ.ทร. รุ่นที่ ๘๓ ประจำปีงบประมาณ ๒๕๖๖</a:t>
            </a:r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9678" y="203390"/>
            <a:ext cx="3852643" cy="3294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รายชื่อกลุ่มสัมมนากลุ่มที่ ๔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1121433" y="1292472"/>
            <a:ext cx="10084279" cy="4536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อาจารย์ประจำคณะทำงาน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     		น.ท.ธนเดช  จิตร์ประวัติ</a:t>
            </a:r>
            <a:endParaRPr sz="3200" b="0" i="0" u="none" strike="noStrike" cap="none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ประธานคณะทำงาน</a:t>
            </a:r>
            <a:r>
              <a:rPr lang="th-TH" sz="3200" b="0" i="0" u="none" strike="noStrike" cap="none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		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น.ท.วรยุทธ  นิสสัยพันธุ์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เลขานุการ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			น.ต.กฤษณ์  นาคเกิด 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สมาชิก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น.ต.เฉลิมเกียรติ  เฉื่อยฉ่ำ 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	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ว่าที่ น.ท.อรรนพ  ทัพศรีลา 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น.ต.ชาตรี  สิทัน	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           	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น.ต.เอกราช  แสงเล็ก 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น.ต. ณโรจ  ศรีวชิรวัฒน์			พ.ต.ภัทรพล  ติปยานนท์	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น.ท.ธนกฤต  พรนิมิตร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           	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พ.ต.เอกภพ  กฐินทิพย์	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น.ต.ภาณุพงศ์  บุปผา</a:t>
            </a:r>
            <a:r>
              <a:rPr lang="th-TH" sz="3200" b="0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		</a:t>
            </a:r>
            <a:r>
              <a:rPr lang="th-TH" sz="3200" b="1" i="0" u="none" strike="noStrike" cap="none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น.ต.ไบรอัน ลุสาดาส วีลาสโก</a:t>
            </a:r>
            <a:endParaRPr sz="3200" b="0" i="0" u="none" strike="noStrike" cap="none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i="0" u="none" strike="noStrike" cap="none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 i="0" u="none" strike="noStrike" cap="none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i="0" u="none" strike="noStrike" cap="none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หัวข้อการบรรยาย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198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กล่าวนำ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การกำหนดหนทางปฏิบัติของฝ่ายตรงข้าม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" descr="A close-up of a char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 l="15606" t="2426" r="15602" b="20996"/>
          <a:stretch/>
        </p:blipFill>
        <p:spPr>
          <a:xfrm>
            <a:off x="2789717" y="1691389"/>
            <a:ext cx="5946831" cy="347522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arabun"/>
              <a:buNone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กล่าวนำ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838198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Who are we?	-&gt; ฝ่ายเสนาธิการรบด้านการข่าว (N2 Staff) ของราชนาวีอังกฤษ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14" name="Google Shape;114;p4"/>
          <p:cNvSpPr/>
          <p:nvPr/>
        </p:nvSpPr>
        <p:spPr>
          <a:xfrm rot="9552438">
            <a:off x="6334411" y="2891811"/>
            <a:ext cx="603850" cy="18705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 flipH="1">
            <a:off x="6951798" y="2691096"/>
            <a:ext cx="118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N2 STAFF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880558" y="5456009"/>
            <a:ext cx="8428008" cy="806768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ขณะที่ได้รับบ่งการ (เริ่มสัมมนาวันแรก) คือ วันที่ ๒ เม.ย.๑๙๘๒</a:t>
            </a:r>
            <a:endParaRPr sz="36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สถานการณ์ทั่วไป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dirty="0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๘๖</a:t>
            </a:r>
            <a:endParaRPr sz="1800" b="1" dirty="0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126" name="Google Shape;126;p5" descr="A picture containing map, text, atlas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51594" y="1479249"/>
            <a:ext cx="4108468" cy="486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4800027" y="1440726"/>
            <a:ext cx="6840379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rabun"/>
              <a:buChar char="-"/>
            </a:pP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ค.ศ.๑๘๓๓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เกาะฟอล์คแลนด์อยู่ในการปกครองของสหราชอาณาจักร โดยมีเมืองหลวงชื่อ Port Stanley </a:t>
            </a:r>
            <a:endParaRPr sz="24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rabun"/>
              <a:buChar char="-"/>
            </a:pP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ค.ศ.๑๙๖๐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UN โดยสมัชชาใหญ่แห่งองค์กรสหประชาชาติ ผ่านมติที่ประชุมที่ ๑๕๑๔ เรื่องการประกาศตนเป็นเอกราชของอาณานิคม โดยหลังจากการมติที่ ๑๕๑๔ ผ่านทำให้อาร์เจนตินามีความพยายามในการเรียกร้องดินแดนฟอล์คแลนด์คืน </a:t>
            </a:r>
            <a:r>
              <a:rPr lang="th-TH" sz="2400" b="1" u="sng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โดยใช้เครื่องมือทางการทูต</a:t>
            </a:r>
            <a:endParaRPr sz="24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rabun"/>
              <a:buChar char="-"/>
            </a:pP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ค.ศ.๑๙๗๖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อาร์เจนตินาเกิดรัฐประหาร กลายเป็นรัฐบาลเผด็จการทหาร และมีความพยายามส่งกำลังเข้าบึดครอง Southern Thule </a:t>
            </a:r>
            <a:endParaRPr sz="24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rabun"/>
              <a:buChar char="-"/>
            </a:pP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ค.ศ.๑๙๘๑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รัฐบาลอาร์เจนตินาเผชิญปัญหาเรื่องความมั่นคง จนนำมาสู่การเปลี่ยนรัฐบาลและการดำเนินนโยบายเศรษฐกิจเสรีนิยมใหม่ ทำให้เกิดปัญหาเศรษฐกิจอย่างรุนแรง</a:t>
            </a:r>
            <a:endParaRPr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rabun"/>
              <a:buChar char="-"/>
            </a:pP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ค.ศ.๑๙๘๑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 รัฐบาลทหาร Leopoldo Galtieri พยายามใช้นโยบายชาตินิยม เพื่อเบี่ยงเบนความสนใจ โดยชูประเด็นการทวงคืนฟอล์คแลนด์</a:t>
            </a:r>
            <a:endParaRPr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สถานการณ์เฉพาะ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arabun"/>
              <a:buNone/>
            </a:pPr>
            <a:r>
              <a:rPr lang="th-TH" b="1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กล่าวนำ</a:t>
            </a:r>
            <a:endParaRPr b="1" dirty="0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dirty="0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๘๖</a:t>
            </a:r>
            <a:endParaRPr sz="1800" b="1" dirty="0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17917" y="3037926"/>
            <a:ext cx="10714008" cy="43994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Road to Crisis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17917" y="5870853"/>
            <a:ext cx="10714008" cy="43994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Road to Crisis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cxnSp>
        <p:nvCxnSpPr>
          <p:cNvPr id="139" name="Google Shape;139;p6"/>
          <p:cNvCxnSpPr/>
          <p:nvPr/>
        </p:nvCxnSpPr>
        <p:spPr>
          <a:xfrm>
            <a:off x="139141" y="3526549"/>
            <a:ext cx="11926988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6"/>
          <p:cNvSpPr txBox="1"/>
          <p:nvPr/>
        </p:nvSpPr>
        <p:spPr>
          <a:xfrm>
            <a:off x="810883" y="1845030"/>
            <a:ext cx="1337094" cy="9233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๘ ธ.ค.๑๙๘๑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Galtieri ขึ้นเป็น ปธน.อาร์เจนฯ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315528" y="2834384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2222739" y="1576655"/>
            <a:ext cx="1477993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๑๖ ธ.ค.๑๙๘๑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บริษัทแยกชิ้นส่วนเหล็กเดินทางไปเกาะ South Georgia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776267" y="2841377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841630" y="1579981"/>
            <a:ext cx="2343510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๒๐ ธ.ค.๑๙๘๑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เรือเดินทางไปถึง ไม่ได้รับอนุญาตให้จอด แต่มีการส่งคนงานขึ้นเกาะ และมีการพ่นสีเชิงสัญลักษณ์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827917" y="2830634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6248400" y="1853654"/>
            <a:ext cx="1477993" cy="9233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๖ ม.ค. 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อังกฤษประท้วงกรณี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South Georgia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801928" y="2828097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789653" y="1576655"/>
            <a:ext cx="1751162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๑๙ ม.ค. 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อาร์เจนฯ ออกคำสั่งลับที่ ๑/๘๒ เตรียมใช้เครื่องมือทางทหารยึดฟอล์คแลนด์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479766" y="2816584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604075" y="1592728"/>
            <a:ext cx="2041585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ก.พ.๑๙๘๒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สื่อฯ ใหญ่ในอาร์เจนฯ ประโคมข่าวเรื่องฟอล์คแลนด์ ว่าจะมีการใช้กำลังทหาร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439399" y="2843381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1374432" y="3075333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1372420" y="5907013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80203" y="3843318"/>
            <a:ext cx="2041585" cy="17543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๑๐ มี.ค.๑๙๘๒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บริษัทแยกชิ้นส่วนเหล็กเดินทางไป South Georgia อีกครั้ง และยึดเกาะได้วันที่ ๑๔ มี.ค.๑๙๘๒ มีการชักธงอาร์เจน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293962" y="5687634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550543" y="4397315"/>
            <a:ext cx="1584385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๒๔ มี.ค.๑๙๘๒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มีการเสริมชุด รพศ.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๑๑ นายเข้าไปในพื้นที่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S. Georgia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147203" y="5682866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163683" y="4120316"/>
            <a:ext cx="1584385" cy="1477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๒๗ มี.ค.๑๙๘๒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ผชท.ทร.รายงานการเคลื่อนกำลังเรือผิวน้ำและเรือดำน้ำออกจาก Belgrano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827917" y="5677218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5794076" y="3573890"/>
            <a:ext cx="1584385" cy="20313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๓๐ มี.ค.๑๙๘๒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ปชช.อาร์เจนฯ เรียกร้องให้ปลดปล่อยฟอล์คแลนด์ และมีรายงานการเคลื่อนกำลังทางเรือจาก Belgrano เพิ่มเติม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374921" y="5687634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424469" y="4415703"/>
            <a:ext cx="1814422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 เม.ย.๑๙๘๒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เรือ ARA Guerrico(CVT) และ นย.๔๐ นาย เสริมกำลังที่ S.Georgia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144702" y="5666357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9305027" y="4146309"/>
            <a:ext cx="2426898" cy="1477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๒ เม.ย.๑๙๘๒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อาร์เจนฯ ยกพลฯ ที่เกาะฟอล์คแลนด์ พร้อมกำลังสนับสนุนในเวลา ๐๔๓๐ จนถึงเวลา ๑๐๓๐ ผู้ว่าการฯ ขอยอมจำนน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439399" y="5670473"/>
            <a:ext cx="370936" cy="25508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435768" y="5878458"/>
            <a:ext cx="437073" cy="35308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dirty="0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ตรวจสอบช่วงเวลาในการจัดเตรียม IPOE</a:t>
            </a:r>
            <a:endParaRPr sz="18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72" name="Google Shape;172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 dirty="0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๘๖</a:t>
            </a:r>
            <a:endParaRPr sz="1800" b="1" dirty="0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176" name="Google Shape;176;p7" descr="A diagram of a process&#10;&#10;Description automatically generated with medium confidenc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l="10541" t="12892" r="7835" b="12323"/>
          <a:stretch/>
        </p:blipFill>
        <p:spPr>
          <a:xfrm>
            <a:off x="1874427" y="1650985"/>
            <a:ext cx="8443142" cy="43513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ตรวจสอบนโยบาย ข้อกำหนด ข้อจำกัด และความต้องการของ ผบ.ชา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8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86" name="Google Shape;186;p8" descr="A close-up of a perso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17274" y="1483743"/>
            <a:ext cx="1549879" cy="214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2570672" y="1483743"/>
            <a:ext cx="883344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ถ้อยแถลงต่อสภาล่างฯ ของนายกรัฐมนตรีสหราชอาณาจักร</a:t>
            </a:r>
            <a:endParaRPr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“ข้าพเจ้าจะไปแจ้งต่อสภาว่า หมู่เกาะฟอล์คแลนด์จะต้องอยู่ภายใต้การปกครองของสหราชอาณาจักร จะไม่มีการแข็งกร้าวหรือการรุกรานใดๆ ที่จะทำลายความจริงข้อนี้ได้ เป็นวัตถุประสงค์ของรัฐบาลที่ปรารถนาจะได้หมู่เกาะฟอล์คแลนด์กลับคืนมา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โดยเร็วที่สุดเท่าที่จะเป็นไปได้ </a:t>
            </a:r>
            <a:r>
              <a:rPr lang="th-TH" sz="2400" b="1" dirty="0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กฎหมายระหว่างประเทศจะต้องศักดิ์สิทธิ์และบังคับใช้ได้จริง สหราชอาณาจักรจะไม่ยอมจำจนต่ออาณานิคมที่เป็นของเรามีถึง ๑๔๙ ปี โดยเฉพาะจากรัฐบาลที่รุกรานโดยไม่ชอบธรรม”</a:t>
            </a:r>
            <a:endParaRPr sz="2400" b="1" dirty="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696135" y="3718362"/>
            <a:ext cx="1541427" cy="41204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>
              <a:alpha val="2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56889" y="4186154"/>
            <a:ext cx="10685254" cy="2246769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นโยบายของรัฐบาลสหราชอาณาจักร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๑  การป้องกันดินแดนและประชาชนของสหราชอาณาจักร โดยการยึดคืนเกาะฟอล์คแลนด์ และ เซาธ์จอร์เจียโดยเร็วที่สุด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๒  การแสดงให้นานาประเทศเห็นว่าการใช้กำลังต่อดินแดน และ ผลประโยชน์ของสหราชอาณาจักรนั้น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สหราชอาณาจักรจะไม่ยินยอมให้เกิดขึ้นอย่างแน่นอน</a:t>
            </a:r>
            <a:endParaRPr sz="2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ตรวจสอบเครื่องมือหาข่าวที่มี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11920770" y="6488668"/>
            <a:ext cx="271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9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99" name="Google Shape;199;p9"/>
          <p:cNvSpPr txBox="1">
            <a:spLocks noGrp="1"/>
          </p:cNvSpPr>
          <p:nvPr>
            <p:ph type="body" idx="1"/>
          </p:nvPr>
        </p:nvSpPr>
        <p:spPr>
          <a:xfrm>
            <a:off x="838198" y="1619474"/>
            <a:ext cx="10515600" cy="4539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เครื่องมือหาข่าวในความรับผิดชอบของราชนาวี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เรือผิวน้ำ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เรือดำน้ำ (ทั้งเรือดำน้ำดีเซล-ไฟฟ้า และ เรือดำน้ำนิวเคลียร์)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อากาศยาน ทร.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หน่วยปฏิบัติการพิเศษ (SBS : Special Boat Service)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เครื่องมือหาข่าวที่จำเป็นต้องขอรับการสนับสนุน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ภาพต่างๆ จากดาวเทียม (สหรัฐอเมริกา)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อากาศยานลาดตระเวนระยะไกล (กองทัพอากาศสหราชอาณาจักร และ สหรัฐอเมริกา)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หน่วยปฏิบัติการพิเศษ (SAS : Special Air Service)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หน่วยข่าวกรองอังกฤษ (MI6)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เรือสินค้าต่างๆ (ผ่าน UKMTO)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 : ตรวจสอบความต้องการหัวข้อข่าวสารสำคัญฝ่ายตรงข้าม (PIR)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05" name="Google Shape;205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10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09" name="Google Shape;209;p10"/>
          <p:cNvGraphicFramePr/>
          <p:nvPr>
            <p:extLst>
              <p:ext uri="{D42A27DB-BD31-4B8C-83A1-F6EECF244321}">
                <p14:modId xmlns:p14="http://schemas.microsoft.com/office/powerpoint/2010/main" val="4127209731"/>
              </p:ext>
            </p:extLst>
          </p:nvPr>
        </p:nvGraphicFramePr>
        <p:xfrm>
          <a:off x="838198" y="1588896"/>
          <a:ext cx="10515600" cy="368027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lt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หัวข้อข่าวสารสำคัญฝ่ายตรงข้าม (PIR)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การวางกำลังบนเกาะฟอล์คแลนด์และ บนแผ่นดินอาร์เจนตินา ทั้งทางบก ทางทะเล และ ทางอากาศ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การสนับสนุนอะไหล่ และการฝึก เรือดำน้ำให้อาร์เจนตินาจากสหรัฐฯ และ เยอรมนี อยู่ในระดับใด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มีการวางสนามทุ่นระเบิดไว้ในพื้นที่ใดบ้าง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นักบิน Mirage IIIEA ได้รับการฝึกให้มีขีดความสามารถในการเติมน้ำมันกลางอากาศหรือไม่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ทัศนคติและนิสัยของผู้บังคับบัญชาระดับต่างๆ ตั้งแต่ ประธานาธิบดี จนถึงผู้บังคับบัญชากำลังบนเกาะฟอล์คแลนด์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ขีดความสามารถในการปฏิบัติการร่วมของกองทัพอาร์เจนตินา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u="none" strike="noStrike" cap="none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ระยะเวลาที่อาร์เจนตินาสามารถทำสงครามได้นานที่สุดคือเท่าใด (Operation Reach)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การกำหนดขอบเขตของภัยคุกคาม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15" name="Google Shape;21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11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9" name="Google Shape;219;p11"/>
          <p:cNvSpPr txBox="1">
            <a:spLocks noGrp="1"/>
          </p:cNvSpPr>
          <p:nvPr>
            <p:ph type="body" idx="1"/>
          </p:nvPr>
        </p:nvSpPr>
        <p:spPr>
          <a:xfrm>
            <a:off x="838200" y="2585632"/>
            <a:ext cx="10515600" cy="20726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กองกำลังอาร์เจนตินา จะป้องกันการยกพลขึ้นบกของกองกำลังสหราชอาณาจักรบนเกาะฟอล์คแลนด์ ปฏิเสธการใช้ทะเลรอบเกาะฟอล์คแลนด์ในพื้นที่อิทธิพลของการปฏิบัติการร่วม ลิดรอนกำลังทางเรือ ตั้งแต่วันที่ ๒ เม.ย.๑๙๘๒ จนกระทั่งสหราชอาณาจักรยินยอมยกเกาะฟอล์คแลนด์ให้เป็นของอาร์เจนตินาโดยสมบูรณ์ เพื่อให้สหราชอาณาจักรหมดความพยายามในการใช้กำลังทหารยึดคืนเกาะฟอล์คแลนด์ โดยการปฏิบัติการร่วมด้วยกำลังทางบก สนับสนุนด้วยกำลังทางเรือและกำลังทางอากาศ</a:t>
            </a:r>
            <a:endParaRPr b="1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คุณลักษณะทางกายภาพทางทะเล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25" name="Google Shape;22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26" name="Google Shape;22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229" name="Google Shape;229;p12" descr="A picture containing water, screenshot, text, map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t="4087" b="4681"/>
          <a:stretch/>
        </p:blipFill>
        <p:spPr>
          <a:xfrm>
            <a:off x="235933" y="1692425"/>
            <a:ext cx="8166349" cy="41907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 txBox="1"/>
          <p:nvPr/>
        </p:nvSpPr>
        <p:spPr>
          <a:xfrm>
            <a:off x="8587236" y="1692425"/>
            <a:ext cx="3333534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ฝั่งตะวันออกของเกาะฯ เป็นทะเลเปิด (Open Ocean)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ฝั่งตะวันตกของเกาะฯ เป็นทะเลเปิด (Open Ocean) โดยมีแผ่นดินอาร์เจนฯ ห่างประมาณ ๓๐๐ ไมล์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รอบๆ เกาะประมาณ ๕๐ ไมล์ เป็นพื้นที่ Littoral Water </a:t>
            </a:r>
            <a:endParaRPr sz="20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น้ำลึกเฉลี่ย ๒๐๐ – ๔๐๐ เมตร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ช่องแคบ Falkland Sound เป็นน่านน้ำจำกัด (Confined Water) มีน้ำลึกประมาณ ๓๐ – ๖๐ เมตร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arabun"/>
              <a:buChar char="-"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ชายฝั่งรอบเกาะฯ เว้าแหว่งและมีน้ำลึก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คุณลักษณะทางกายภาพทางบก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240" name="Google Shape;240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61668" y="1434641"/>
            <a:ext cx="3050878" cy="2398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3" descr="A picture containing earth, map, aeria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2335" y="1434641"/>
            <a:ext cx="4264554" cy="2398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3" descr="A picture containing text, screenshot, graphic design, map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6467" y="1432096"/>
            <a:ext cx="3050877" cy="237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3" descr="A map of the world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668" y="3922466"/>
            <a:ext cx="3522143" cy="247712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/>
        </p:nvSpPr>
        <p:spPr>
          <a:xfrm>
            <a:off x="4321834" y="3922466"/>
            <a:ext cx="744459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ประชากร ประมาณ ๑,๘๐๐ คน (อาชีพเกษตรกรรม) กระจุกตัวในฝั่งตะวันออก (Port Stanley) 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-ภูเขาสลับที่ราบสูงและเนินโล่ง พันธ์ไม้พุ่มเตี้ย ต้นไม้ใหญ่น้อย พื้นเป็นหินรับน้ำหนักได้ดี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-ฝั่งตะวันออกมีช่อง Goose Green เป็นทางแคบเชื่อมต่อระหว่างเหนือ-ใต้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คุณลักษณะทางกายภาพทางอากาศ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50" name="Google Shape;25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879894" y="1692425"/>
            <a:ext cx="110408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ภูมิประเทศเป็นภูเขาสลับที่ราบสูงไม่มีต้นไม้ใหญ่ สามารถนำระบบตรวจการณ์ไปติดตั้งบนที่สูงเพื่อตรวจการณ์ทางอากาศได้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การตรวจการณ์จากเกาะออกไปรอบเกาะ เป็นพื้นที่เปิดโล่ง ไม่มีสิ่งกีดขวาง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สภาพความแข็งและความโล่งของพื้นที่ สามารถใช้ประโยชน์จากส่งกำลังทางอากาศได้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" y="3170072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คุณลักษณะทางกายภาพของเซาธ์จอร์เจีย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879894" y="3887968"/>
            <a:ext cx="1104087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อยู่ห่างจากเกาะฟอล์คแลนด์ไปทางตะวันออกประมาณ ๗๕๐ ไมล์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มีเมือง King Edward Point เป็นเมืองหลวง มีประชากร ๓๒ คน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เป็นที่ตั้งของสถานีล่าวาฬ และ สถานีสำรวจแอนตาร์กติกของบริติช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ไม่มีถนน สนามบิน ใช้การคมนาคมทางน้ำเป็นารสัญจร เป็นเส้นทางผ่านของภูเขาน้ำแข็ง 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คุณลักษณะทางอุตุนิยมวิทยาและสมุทรศาสตร์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62" name="Google Shape;262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63" name="Google Shape;26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681486" y="5046929"/>
            <a:ext cx="1104087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มี 4 ฤดู โดยฤดูหนาวจะมีกลางวันสั้นมาก ลมส่วนใหญ่เป็นลมตะวันตกตลอดปี ในช่วงมรสุมลมจะมีความเร็วมากกว่า ๓๓ นอต คลื่นลมรุนแรงในช่วงเดือน ก.ค.-ก.ย. โดยอาจะมีสูงคลื่นถึง ๘ เมตร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267" name="Google Shape;267;p15" descr="A screenshot of a calendar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 l="4312" t="17199"/>
          <a:stretch/>
        </p:blipFill>
        <p:spPr>
          <a:xfrm>
            <a:off x="1895373" y="1831538"/>
            <a:ext cx="7940748" cy="32153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15"/>
          <p:cNvCxnSpPr/>
          <p:nvPr/>
        </p:nvCxnSpPr>
        <p:spPr>
          <a:xfrm>
            <a:off x="5244860" y="1812024"/>
            <a:ext cx="0" cy="323490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9" name="Google Shape;269;p15"/>
          <p:cNvSpPr txBox="1"/>
          <p:nvPr/>
        </p:nvSpPr>
        <p:spPr>
          <a:xfrm>
            <a:off x="3899140" y="1522065"/>
            <a:ext cx="897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Summer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5052203" y="1522065"/>
            <a:ext cx="897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Falls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6397923" y="1522065"/>
            <a:ext cx="897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Winter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7726390" y="1513339"/>
            <a:ext cx="897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Spring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73" name="Google Shape;273;p15"/>
          <p:cNvCxnSpPr/>
          <p:nvPr/>
        </p:nvCxnSpPr>
        <p:spPr>
          <a:xfrm>
            <a:off x="4796287" y="1450078"/>
            <a:ext cx="0" cy="3533589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74" name="Google Shape;274;p15"/>
          <p:cNvCxnSpPr/>
          <p:nvPr/>
        </p:nvCxnSpPr>
        <p:spPr>
          <a:xfrm>
            <a:off x="6139132" y="1450078"/>
            <a:ext cx="0" cy="3533589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15"/>
          <p:cNvCxnSpPr/>
          <p:nvPr/>
        </p:nvCxnSpPr>
        <p:spPr>
          <a:xfrm>
            <a:off x="7513608" y="1450078"/>
            <a:ext cx="0" cy="3533589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15"/>
          <p:cNvCxnSpPr/>
          <p:nvPr/>
        </p:nvCxnSpPr>
        <p:spPr>
          <a:xfrm>
            <a:off x="8890959" y="1450077"/>
            <a:ext cx="0" cy="3533589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:โครงสร้างพื้นฐาน สิ่งอำนวยความสะดวก เส้นทางคมนาคม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82" name="Google Shape;282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83" name="Google Shape;28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286" name="Google Shape;286;p16" descr="A picture containing text, map, diagram, atla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7877" b="14753"/>
          <a:stretch/>
        </p:blipFill>
        <p:spPr>
          <a:xfrm>
            <a:off x="430168" y="1476129"/>
            <a:ext cx="11331660" cy="4931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:โครงสร้างพื้นฐาน สิ่งอำนวยความสะดวก เส้นทางคมนาคม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92" name="Google Shape;29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93" name="Google Shape;29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17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296" name="Google Shape;296;p17" descr="A map of the world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 b="4095"/>
          <a:stretch/>
        </p:blipFill>
        <p:spPr>
          <a:xfrm>
            <a:off x="1914171" y="1544029"/>
            <a:ext cx="8764549" cy="4830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ปัจจัยประกอบอื่นๆ ที่เกี่ยวข้อง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02" name="Google Shape;302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03" name="Google Shape;30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405441" y="1430238"/>
            <a:ext cx="11381115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ELIMITS :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Politic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Economic / Law / Infrastructure / Military / Information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405442" y="1894926"/>
            <a:ext cx="11381116" cy="156966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รัฐบาลทหารอาร์เจนตินา ใช้แนวคิดชาตินิยมจนได้รับการสนับสนุนในการใช้กำลังทหารยึดคืนฟอล์คแลนด์ อย่างไรก็ตามกระแสต่อต้านรัฐบาลยังคงมีอยู่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ความตึงเครียดของสงครามเย็น ทำให้ประเทศมหาอำนาจขั้วคอมมิวนิสต์อาจสนับสนุนอาร์เจนตินา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กลุ่มประเทศ OAS (Organization of American States) สนับสนุนอาร์เจนฯ เว้น ชิลี และ สหรัฐอเมริกา</a:t>
            </a:r>
            <a:endParaRPr sz="2000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405442" y="3464514"/>
            <a:ext cx="11381114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LIMITS : Politic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Economic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Law / Infrastructure / Military / Information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405440" y="3920346"/>
            <a:ext cx="11381116" cy="156966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อาร์เจนตินากำลังเผชิญภาวะเศรษฐกิจตกต่ำอย่างรุนแรง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จากภาวะเศรษฐกิจทำให้ภาคอุตสาหกรรมหยุดงาน และเกิดการว่างงาน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สินค้าอุปโภคและบริโภคส่วนใหญ่ของอาร์เจนตินามาจากประเทศบราซิล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ทรัพยากรในการทำสงคราม (น้ำมัน/ก๊าซธรรมชาติ) นำเข้าจากประเทศ เวเนซูเอลา และ เปรู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ปัจจัยประกอบอื่นๆ ที่เกี่ยวข้อง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16" name="Google Shape;31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19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405441" y="1430238"/>
            <a:ext cx="11381115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IMITS : Politic / Economic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Law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Infrastructure / Military / Information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405442" y="1894926"/>
            <a:ext cx="11381116" cy="83099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    กฎบัตรสหประชาชาติเป็นมติที่สมาชิกองค์การสหประชาชาติมีร่วมกันเพื่อป้องกันไม่ให้เกิดสงคราม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    กฎหมายระหว่างประเทศว่าด้วยสงคราม การขัดกันด้วยอาวุธ กฎหมายด้านมนุษยธรรม มีการจำกัดรูปแบบละวิธีการในการสงคราม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405440" y="2720747"/>
            <a:ext cx="11381114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PEL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MITS : Politic / Economic / Law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Infrastructure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Military / Information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405438" y="3182412"/>
            <a:ext cx="11381116" cy="83099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ความพร้อมของโครงสร้างพื้นฐานทั้งหมดอยู่บนแผ่นดินใหญ่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สายการผลิตต่างๆ ของภาคอุตสาหกรรมยกเลิกการผลิตเนื่องจากภาวะเศรษฐกิจ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405440" y="4008233"/>
            <a:ext cx="11381114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PELI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ITS : Politic / Economic / Law / Infrastructure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Military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Information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405438" y="4464722"/>
            <a:ext cx="11381116" cy="83099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กำลังทหารไม่ได้อยู่ในสถานะที่พร้อมจะทำสงคราม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จากสภาวะเศรษฐกิจที่สะสมมาเป็นระยะเวลาหลายปี ทำให้มีผลต่อจิตใจของทหารในเรื่อง Will to Fight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ปัจจัยประกอบอื่นๆ ที่เกี่ยวข้อง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31" name="Google Shape;3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20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405441" y="1430238"/>
            <a:ext cx="11381115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PELIM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TS : Politic / Economic / Law / Infrastructure / Military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Information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/ Technology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405442" y="1894926"/>
            <a:ext cx="11381116" cy="83099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รัฐบาลเผด็จการทหารสามารถควบคุมสื่อฯ ต่าง ๆ ได้อย่างเบ็ดเสร็จ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การจำกัดและควบคุมข่าวสารของรัฐบาลอาจะทำให้เกิดปัญหา Bottleneck ของข้อมูลข่าวสาร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405440" y="2720747"/>
            <a:ext cx="11381114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PELIMI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T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 : Politic / Economic / Law / Infrastructure / Military / Information /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Technology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และ 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405438" y="3182412"/>
            <a:ext cx="11381116" cy="83099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เทคโนโลยีในภาคอุตสาหกรรมทั้งหมดอาร์เจนตินานำเข้าจากประเทศในกลุ่ม NATO และ EEC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เทคโนโลยีที่เกี่ยวกับอากาศยานมาจากเยอรมนี และ ฝรั่งเศส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405440" y="4008233"/>
            <a:ext cx="11381114" cy="46166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PELIMIT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Politic / Economic / Law / Infrastructure / Military / Information / Technology และ 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Social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405438" y="4464722"/>
            <a:ext cx="11381116" cy="1938992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ความแตกต่างระหว่างนิกายของคริสต์ศาสนาระหว่างชาวอังกฤษ (บนเกาะ) กับ ชาวอาร์เจนตินา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ประชากรบนเกาะเป็นชาวสหราชอาณาจักรที่มีอาชีพเลี้ยงแกะ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ภาษาราชการของอาร์เจนตินาเป็นภาษาสเปน ในขณะที่ประชากรใช้ภาษาอังกฤษ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ประชากรอาร์เจนตินามีอัตราการรู้หนังสือที่ร้อยละ ๙๔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ประวัติศาสตร์ความขัดแย้งระหว่าง อังกฤษ-อาร์เจนตินา เรื่องฟอล์คแลนด์มีมาอย่างยาวนาน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วิเคราะห์คุณลักษณะสภาพแวดล้อม : พื้นที่ปฏิบัติการ พื้นที่สนใจหาข่าว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45" name="Google Shape;3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การระบุสภาพแวดล้อมทางยุทธการ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46" name="Google Shape;34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21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349" name="Google Shape;349;p21" descr="A close-up of a map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7813" y="1390570"/>
            <a:ext cx="8858150" cy="4982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:การพิจารณาลักษณะทางกายภาพทางทะเล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55" name="Google Shape;355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56" name="Google Shape;35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359" name="Google Shape;359;p22"/>
          <p:cNvGraphicFramePr/>
          <p:nvPr>
            <p:extLst>
              <p:ext uri="{D42A27DB-BD31-4B8C-83A1-F6EECF244321}">
                <p14:modId xmlns:p14="http://schemas.microsoft.com/office/powerpoint/2010/main" val="1329849287"/>
              </p:ext>
            </p:extLst>
          </p:nvPr>
        </p:nvGraphicFramePr>
        <p:xfrm>
          <a:off x="581802" y="1492271"/>
          <a:ext cx="11028400" cy="47244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พื้นที่ด้านตะวันออกของฟอล์คแลนด์เป็นทะเลเปิด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-การเคลื่อนกำลังโดนตรวจพบง่าย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-การตรวจการณ์ของเรือไม่โดนรบกวนจากฝั่ง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-มีเสรีในการปฏิบัติ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-ตรวจการณ์การเคลื่อนกำลังของฝ่ายเราได้ง่าย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มีเสรีในการเคลื่อนกำลังทางเรือ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ปกปิดการเคลื่อนกำลังได้อย่างหากต้องการปกปิดต้องซ่อนพรางด้วยเวลากลางคืน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พื้นที่ด้านตะวันตกของฟอล์คแลนด์เป็นทะเลเปิด ห่างจากฝั่งแผ่นดินใหญ่ประมาณ ๓๐๐ ไมล์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-การเคลื่อนกำลังโดนตรวจพบง่าย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-การตรวจการณ์ของเรือไม่โดนรบกวนจากฝั่ง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-เป็นพื้นที่อิทธิพลของข้าศึก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-ตรวจการณ์การเคลื่อนกำลังของฝ่ายเราได้ง่าย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ข้าศึกอาจกำหนดเป็นพื้นที่ Kill Zone ต้องเพิ่มการระวังป้องกัน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พื้นที่รอบเกาะ ๕๐ ไมล์ เป็นพื้นที่แบบ Littoral Water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-ลดทอนประสิทธิภาพการตรวจจับ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-การพิสูจน์ทราบเป้าทำได้ยากจากกิจกรรมทางทะเลใกล้ฝั่ง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-สามารถประสานการโจมตีจากกำลังที่อยู่บนบกได้รวดเร็ว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เกิดความยากและข้อจำกัดในการปฏิบัติ ต้องอาศัยการแจ้งเตือนภัยล่วงหน้า และเครื่องมือที่หลากหลาย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:การพิจารณาลักษณะทางกายภาพทางทะเล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65" name="Google Shape;36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66" name="Google Shape;36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369" name="Google Shape;369;p23"/>
          <p:cNvGraphicFramePr/>
          <p:nvPr>
            <p:extLst>
              <p:ext uri="{D42A27DB-BD31-4B8C-83A1-F6EECF244321}">
                <p14:modId xmlns:p14="http://schemas.microsoft.com/office/powerpoint/2010/main" val="1626788792"/>
              </p:ext>
            </p:extLst>
          </p:nvPr>
        </p:nvGraphicFramePr>
        <p:xfrm>
          <a:off x="581802" y="1388779"/>
          <a:ext cx="11028400" cy="51207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พื้นที่ในช่องแคบ Falkland Sound เป็นน่านน้ำจำกัด (Confined Water)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-การเคลื่อนกำลังโดนจำกัด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-มีภัยคุกคามจากพื้นที่บนบกทั้ง ๒ ทิศทาง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-เป็นพื้นที่อิทธิพลของข้าศึกสามารถประสานการโจมตีหลายทิศทางได้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ข้าศึกอาจกำหนดเป็นพื้นที่ Kill Zone ต้องเพิ่มการระวังป้องกัน หรือ การลวง เพื่อลดภัยคุกคาม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ชายฝั่งอาร์เจนตินายาว ๑,๔๐๐ ไมล์ น้ำลึกเฉลี่ย ๒๐๐-๔๐๐ เมตร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-เอื้อต่อการปฏิบัติการเรือดำน้ำ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-ไม่เอื้อต่อการใช้สงครามทุ่นระเบิด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-เอื้อต่อการปฏิบัติการเรือดำน้ำ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-ไม่เอื้อต่อการใช้สงครามทุ่นระเบิด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สามารถใช้ ด.ในการทำ ISR และ ซุ่มโจมตีกำลังทางเรือโดยข้าศึกป้องกันได้จำกัด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พื้นที่โดยรอบเกาะมีความชันมาก และมีความแข็งแรงมากมายหลายพื้นที่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-เลือกพื้นที่ยกพลฯ ได้หลายที่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-สามารเคลื่อนกำลังยานเกราะผ่านได้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-ต้องกระจายกำลังตั้งรับเพื่อป้องกันหลายพื้นที่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ข้าศึกต้องกระจายกำลังตั้งรับ ควรแสดงลวงยกพลฯ เพื่อ Shaping กำลังตั้งรับข้าศึก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พื้นที่รอบเกาะใกลฝั่ง และ ช่องแคบ Falkland Sound น้ำลึกระหว่าง ๓๐ – ๖๐ เมตร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-เรือขนาดใหญ่ปฏิบัติการได้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-เรือดำน้ำปฏิบัติการในพื้นที่ใกล้ฝั่งได้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-สามารถวางสนามทุ่นระเบิดทางป้องกันในพื้นที่สำคัญได้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มีภัยคุกคามจากทุ่นระเบิด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ใช้ ด.ในพื้นที่ใกล้ฝั่งได้สะดวก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:การพิจารณาลักษณะทางกายภาพทางทะเล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75" name="Google Shape;375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379" name="Google Shape;379;p24"/>
          <p:cNvGraphicFramePr/>
          <p:nvPr>
            <p:extLst>
              <p:ext uri="{D42A27DB-BD31-4B8C-83A1-F6EECF244321}">
                <p14:modId xmlns:p14="http://schemas.microsoft.com/office/powerpoint/2010/main" val="1059291237"/>
              </p:ext>
            </p:extLst>
          </p:nvPr>
        </p:nvGraphicFramePr>
        <p:xfrm>
          <a:off x="581802" y="1492271"/>
          <a:ext cx="11028400" cy="37186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ลักษณะชายฝั่งที่มีลักษณะเว้าแหว่ง เป็นอ่าวลึกจำนวนมาก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-สามารถใช้เป็นพื้นที่จอดเรือได้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-สามารถใช้เป็นพื้นที่จอดเรือได้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โดยเป็นพื้นที่เหมาะสมในการวางกำลังเรือเร็วโจมตีโดยอาศัยชายฝั่งในการซ่อนพราง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พื้นที่ห่างฝั่งมีน้ำลึกประมาณ ๒๐๐ – ๕๐๐ เมตร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-เรือดำน้ำปฏิบัติการได้อิสระ และใช้ประโยชน์จาก Layer Depth 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-ไม่มีภัยคุกคามทุ่นระเบิด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-เรือดำน้ำปฏิบัติการได้อิสระ และใช้ประโยชน์จาก Layer Depth 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เกื้อกูลต่อทั้งสองฝ่าย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ในการใช้ ด. อย่างอิสระ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บนเกาะฟอล์คแลนด์มีท่าเรือขนาดใหญ่ ๑ แห่ง (Port Stanley) และมีท่าเรือขนาดเล็กหลายแห่งใน Falkland Sound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-การส่งกำลังทางบกสามารถทำได้ในหลายท่าเรือ และ สามารถขนถ่ายยุทโธปกรณ์ขนาดใหญ่ได้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-การส่งกำลังทางบกสามารถทำได้ในหลายท่าเรือ และ สามารถขนถ่ายยุทโธปกรณ์ขนาดใหญ่ได้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เกื้อกูลต่อทั้งสองฝ่าย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สามารถใช้ประโยชน์จากท่าเรือต่างๆ ที่สามารถยึดครองได้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85" name="Google Shape;385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86" name="Google Shape;38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88" name="Google Shape;388;p2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770555" y="1373533"/>
            <a:ext cx="1061049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DRAW-D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Defend	ภูเขา/ที่ราบสูง/เนินโล่ง				เกื้อกูลต่อการตั้งรับ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Reinforce	ภูมิประเทศ/เส้นทางเคลื่อนกำลังบังคับ			เป็นอุปสรรคในการเพิ่มกำลัง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Attack	มีถนนเชื่อมต่อเมืองหลวง				เกื้อกูลกำลังขนาดใหญ่เข้าตีได้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Withdraw	ภูมิประเทศจำกัด					เป็นอุปสรรคในการถอนตัว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rabun"/>
              <a:buChar char="-"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Delay		เส้นทางบังคับ/ภูมิประเทศ/เสี่ยงในการโดนตรวจพบ		เป็นอุปสรรคต่อการรบหน่วงเวลา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7323826" y="1880558"/>
            <a:ext cx="638355" cy="17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7323825" y="2608678"/>
            <a:ext cx="638355" cy="17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7323824" y="2236798"/>
            <a:ext cx="638355" cy="17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7323824" y="2969286"/>
            <a:ext cx="638355" cy="17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7323822" y="3358198"/>
            <a:ext cx="638355" cy="17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00" name="Google Shape;40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01" name="Google Shape;40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404" name="Google Shape;404;p26" descr="A picture containing text, screenshot, diagram, map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12620"/>
            <a:ext cx="5912604" cy="326158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5" name="Google Shape;405;p26" descr="A map of the world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9038" y="1412621"/>
            <a:ext cx="6100627" cy="3261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/>
          <p:cNvPicPr preferRelativeResize="0"/>
          <p:nvPr/>
        </p:nvPicPr>
        <p:blipFill rotWithShape="1">
          <a:blip r:embed="rId6">
            <a:alphaModFix/>
          </a:blip>
          <a:srcRect l="26956" t="24954" r="26415" b="15095"/>
          <a:stretch/>
        </p:blipFill>
        <p:spPr>
          <a:xfrm>
            <a:off x="7454676" y="4522012"/>
            <a:ext cx="2553419" cy="1846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6"/>
          <p:cNvPicPr preferRelativeResize="0"/>
          <p:nvPr/>
        </p:nvPicPr>
        <p:blipFill rotWithShape="1">
          <a:blip r:embed="rId7">
            <a:alphaModFix/>
          </a:blip>
          <a:srcRect l="13302" t="23772" r="55000" b="11069"/>
          <a:stretch/>
        </p:blipFill>
        <p:spPr>
          <a:xfrm>
            <a:off x="10008095" y="3989090"/>
            <a:ext cx="2058034" cy="237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:การพิจารณาลักษณะทางกายภาพทางบก (OCOKA)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13" name="Google Shape;413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14" name="Google Shape;41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16" name="Google Shape;416;p2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27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17" name="Google Shape;417;p27"/>
          <p:cNvGraphicFramePr/>
          <p:nvPr>
            <p:extLst>
              <p:ext uri="{D42A27DB-BD31-4B8C-83A1-F6EECF244321}">
                <p14:modId xmlns:p14="http://schemas.microsoft.com/office/powerpoint/2010/main" val="11682247"/>
              </p:ext>
            </p:extLst>
          </p:nvPr>
        </p:nvGraphicFramePr>
        <p:xfrm>
          <a:off x="581802" y="1492271"/>
          <a:ext cx="11028400" cy="48159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Observation and field of fire ในช่วงฤดูหนาวมีแสงน้อย ภูมิประเทศเป็นเนินเขา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-มีเวลาปฏิบัติการที่ต้องใช้แสงสั้น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-พื้นที่สูงสามารถใช้เป็นพื้นที่ตรวจการณ์ได้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-พื้นที่สูงสามารถใช้เป็นพื้นที่ตรวจการณ์ได้ และตั้งรับได้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มีช่วงเวลาที่มีแสงจำกัด และภูมิประเทศเอื้อต่อการตั้งรับ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Cover and Concealment ส่วนใหญ่มีพันธ์ไม่พุ่มเตี้ย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-ยากต่อการกำบังซ่อนพรางหน่วย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-ยากต่อการกำบังซ่อนพรางหน่วย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โดยเฉพาะการเป็นฝ่ายรุกลดโอกาสการโดนซุ่มโจมตี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Obstacle ไม่มีเครื่องกีดขวางธรรมชาติ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-ไม่เป็นอุปสรรคในการเคลื่อนกำลัง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-สามารถเสริมความแข็งแรงแนวตั้งรับด้วยเครื่องกีดขวางที่สร้างขึ้น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เกื้อกูลต่อทั้งสองฝ่าย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ในการเลือกใช้การดำเนินกลยุทธ์บนบก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Key Terrain ที่มีเนินเขาสำคัญหลายแห่ง มีพื้นที่คอขวด (Goose Green)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-เคลื่อนกำลังในพื้นที่สูงลำบาก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-Goose Green เป็นจุดสำคัญ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 Key Terrain ในการสร้างความได้เปรียบ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ฝ่ายข้าศึกสามารถใช้ Key Terrain ได้ก่อน ควรยึดครองพื้นที่ให้ได้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Avenue of Approach Credit การใช้ยานเกราะล้อยางต้องใช้เส้นทางบังคับ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-การใช้ยานเกราะมีความเสี่ยงต่อการโดนโจมตี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-การเดินเท้าต้องเผชิญกับความสูง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สามารถดักซุ่มโจมตีทางแนวการเคลื่อนที่ได้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ฝ่ายข้าศึกสามารถเลือกพื้นที่ในการซุ่มโจมตีได้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23" name="Google Shape;423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24" name="Google Shape;42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27" name="Google Shape;427;p28"/>
          <p:cNvGraphicFramePr/>
          <p:nvPr>
            <p:extLst>
              <p:ext uri="{D42A27DB-BD31-4B8C-83A1-F6EECF244321}">
                <p14:modId xmlns:p14="http://schemas.microsoft.com/office/powerpoint/2010/main" val="2129385139"/>
              </p:ext>
            </p:extLst>
          </p:nvPr>
        </p:nvGraphicFramePr>
        <p:xfrm>
          <a:off x="581802" y="1492271"/>
          <a:ext cx="11028400" cy="27127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มีพื้นที่ชายฝั่งมีเหมาะสมต่อการปฏิบัติการยกพลฯ จำนวนหลายหาด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-ต้องใช้ทรัพยากรในการยกพลฯ จำนวนมากเนื่องจากมีพื้นที่ปฏิบัติการกว้าง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-ต้องวางกำลังในการป้องกันพื้นที่กระจายไปหลายแห่ง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สามารถเลือกหาดที่เหมาะสมได้หลายหาด และใช้การลวง เพื่อ Shaping กำลังตั้งรับของข้าศึก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ตอนกลางของเกาะมีแนวภูเขาสูง ไม่สามารถเคลื่อนกำลังผ่านได้ (Severe Restricted)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การเคลื่อนกำลังพลภายในเกาะผ่านพื้นที่ดังกล่าวจะทำได้อย่างเชื่องช้าและจำกัด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มีอุปสรรคในการเคลื่อนย้ายกำลังพลผ่านพื้นที่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:การพิจารณาลักษณะทางกายภาพทางอากาศ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33" name="Google Shape;433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34" name="Google Shape;43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29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437" name="Google Shape;437;p29"/>
          <p:cNvGraphicFramePr/>
          <p:nvPr>
            <p:extLst>
              <p:ext uri="{D42A27DB-BD31-4B8C-83A1-F6EECF244321}">
                <p14:modId xmlns:p14="http://schemas.microsoft.com/office/powerpoint/2010/main" val="2830051100"/>
              </p:ext>
            </p:extLst>
          </p:nvPr>
        </p:nvGraphicFramePr>
        <p:xfrm>
          <a:off x="581802" y="1492271"/>
          <a:ext cx="11028400" cy="47244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สภาพภูมิประเทศเป็นภูเขาสลับที่ราบสูงสลับที่โล่ง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-การตรวจจับอากาศยานของกำลังทางเรือมีข้อจำกัดจากภูมิประเทศ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-ใช้ภูมิประเทศในการหลบเลี่ยงการโดนตรวจจับ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-สามารถใช้พื้นที่สูงเพิ่มระยะตรวจการณ์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มีความเสี่ยงในโดนการโจมตีแบบจู่โจม (Surprise) ด้วยกำลังทางอากาศ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บนเกาะมีพื้นที่โล่ง และพื้นดินมีความแข็ง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-สามารถใช้อากาศยานขึ้น-ลงทางดิ่งได้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-สามารถใช้อากาศยานขึ้น-ลงทางดิ่งได้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 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สามารถใช้พื้นที่บนเกาะเป็นฐานปฏิบัติการของ AV-8 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พื้นที่ทางทะเลโดบรอบเกาะเป็นพื้นที่เปิดโล่ง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-กำลังทางอากาศที่เคลื่อนที่เข้าสู่เกาะหลบหลีกการโดนตรวจจับได้ยาก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-เหมาะสมในการส่งกำลังทางอากาศ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-การตรวจจับภัยคุกคามทางอากาศจากภายนอกเกาะทำได้ง่าย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การเคลื่อนกำลังทางอากาศเข้าสู่เกาะจะโดนตรวจพบได้จากระยะไกล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มีสนามบินใหญ่เพียง ๑ แห่ง และ สนามบินขนาดเล็ก ๒ แห่ง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-สามารถคาดคะเนทิศทางภัยคุกคามทางอากาศได้ง่าย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-ไม่สามารถนำกำลังทางอากาศจำนวนมามาประจำบนเกาะฟอล์คแลนด์ได้จากข้อจำกัดทางจำนวน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ข้าศึกนำอากาศยานมาประจำการบนเกาะได้จำกัด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วิเคราะห์คุณลักษณะทางกายภาพ : ภูมิอากาศ และ สมุทรศาสตร์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43" name="Google Shape;443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44" name="Google Shape;44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30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447" name="Google Shape;447;p30"/>
          <p:cNvPicPr preferRelativeResize="0"/>
          <p:nvPr/>
        </p:nvPicPr>
        <p:blipFill rotWithShape="1">
          <a:blip r:embed="rId4">
            <a:alphaModFix/>
          </a:blip>
          <a:srcRect l="26037" t="38366" r="26062" b="17987"/>
          <a:stretch/>
        </p:blipFill>
        <p:spPr>
          <a:xfrm>
            <a:off x="1268082" y="1460572"/>
            <a:ext cx="9517064" cy="487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Politic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53" name="Google Shape;453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54" name="Google Shape;45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31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457" name="Google Shape;457;p31"/>
          <p:cNvGraphicFramePr/>
          <p:nvPr>
            <p:extLst>
              <p:ext uri="{D42A27DB-BD31-4B8C-83A1-F6EECF244321}">
                <p14:modId xmlns:p14="http://schemas.microsoft.com/office/powerpoint/2010/main" val="2489080323"/>
              </p:ext>
            </p:extLst>
          </p:nvPr>
        </p:nvGraphicFramePr>
        <p:xfrm>
          <a:off x="581802" y="1492271"/>
          <a:ext cx="11028400" cy="47244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การปลุกความคิดชาตินิยมของรัฐบาล โดยยังคงมีกระแสต่อต้าน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-ปชช.อาร์เจนตินา สนับสนุนการใช้กำลังทหาร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-แรงต้านรัฐบาลเผด็จการยังคงมีอยู่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-กระแสชาตินิยมสร้างแรงสนับสนันในการทำสงครามได้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ในการยกประเด็นเผด็จการและเศรษฐกิจมาปฏิบัติการข่าวสารได้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UN มีการออกมติ UNSCR 502 เรียกร้องให้ยุติการใช้กำลังทหาร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-การใช้กำลังทหารของอาร์เจนฯ ขัดต่อกฎบัตร UN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-การใช้กำลังทหารของอาร์เจนฯ ขัดต่อกฎบัตร UN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การสนับสนุนอาร์เจนตินาของประเทศต่างๆ จะต้องทำอย่างปกปิด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ความสัมพันธ์ของรัฐบาลทหารกับประเทศขั้วคอมมิวนิสต์ท่ามกลางสถานการณ์สงครามเย็น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-สหภาพโซเวียต อาจมีการสนับสนุนทางทหารให้กับอาร์เจนตินา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-สหภาพโซเวียต อาจมีการสนับสนุนทางทหารให้กับอาร์เจนตินา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การสนับสนุนของสหภาพโซเวียตจะทำให้อาร์เจนตินามีขีดความสามารถมากขึ้น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กลุ่มประเทศ OAS (เว้นสหรัฐอเมริกา และ ชิลี) สนับสนุนอาร์เจนตินา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-อาร์เจนตินายังคงสามารถได้รับสิ่งจำเป็นได้จากประเทศในกลุ่ม OAS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-อาร์เจนตินายังคงสามารถได้รับสิ่งจำเป็นได้จากประเทศในกลุ่ม OAS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การปิดล้อมเพื่อหวังให้ระยะเวลาในการทำสงครามสั้นลง (ลด Operation Reach) ทำได้ยาก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Economic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63" name="Google Shape;463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64" name="Google Shape;46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67" name="Google Shape;467;p32"/>
          <p:cNvGraphicFramePr/>
          <p:nvPr>
            <p:extLst>
              <p:ext uri="{D42A27DB-BD31-4B8C-83A1-F6EECF244321}">
                <p14:modId xmlns:p14="http://schemas.microsoft.com/office/powerpoint/2010/main" val="947222929"/>
              </p:ext>
            </p:extLst>
          </p:nvPr>
        </p:nvGraphicFramePr>
        <p:xfrm>
          <a:off x="581802" y="1492271"/>
          <a:ext cx="11028400" cy="47244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ปัญหาเศรษฐกิจที่กำลังตกต่ำอย่างรุนแรงและต่อเนื่อง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-กำลังมีปัญหาเรื่องงบประมาณ ทำให้ทรัพยากรจะถูกใช้อย่างจำกัด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-กำลังมีปัญหาเรื่องงบประมาณ ทำให้ทรัพยากรจะถูกใช้อย่างจำกัด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อาร์เจนฯ ไม่สามารถทำสงครามยืดเยื้อได้ การโจมตีเป้าหมายทางเศรษฐกิจจะส่งผลรุนแรง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อาร์เจนตินากำลังโดนคว่ำบาตรจากหลายประเทศจากประเด็นมนุษยชน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-ไม่สามารถนำเข้าสินค้าบางรายการได้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-ไม่สามารถนำเข้าสินค้าบางรายการได้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สามารถกดดันเพิ่มมาตรการคว่ำบาตรได้ ร่วมกับทำ MIO 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อาร์เจนตินาพึ่งพาการนำเข้าสิ่งอุปโภคบริโภค และ น้ำมันจากประเทศในกลุ่ม OAS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-อาร์เจนตินายังคงสามารถนำเข้าปัจจัยจำเป็นในการดำรงชีวิตและทำสงครามได้จาก OAS ที่สนับสนุน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-อาร์เจนตินายังคงสามารถนำเข้าปัจจัยจำเป็นในการดำรงชีวิตและทำสงครามได้จาก OAS ที่สนับสนุน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การปิดล้อมทางทะเลมีโอกาสประสบความสำเร็จต่ำ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เทคโนโลยีในภาคอุตสาหกรรมต่างๆ และ ยุทโธปกรณ์ อาร์เจนตินานำเข้าจากประเทศในกลุ่ม NATO และ EEC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-การพึ่งพายุทโธปกรณ์และเทคโนโลยีต่างๆ ของอาร์เจนฯ ต้องพึ่งพาชาติที่เป็นพันธมิตรของเรา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-การพึ่งพายุทโธปกรณ์และเทคโนโลยีต่างๆ ของอาร์เจนฯ ต้องพึ่งพาชาติที่เป็นพันธมิตรของเรา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สามารถสร้างแรงบังคับโดยระงับการส่งออก รวมทั้งขอข้อมูลจำเป็นจากพันธมิตรได้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Law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73" name="Google Shape;47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74" name="Google Shape;47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77" name="Google Shape;477;p33"/>
          <p:cNvGraphicFramePr/>
          <p:nvPr>
            <p:extLst>
              <p:ext uri="{D42A27DB-BD31-4B8C-83A1-F6EECF244321}">
                <p14:modId xmlns:p14="http://schemas.microsoft.com/office/powerpoint/2010/main" val="522797733"/>
              </p:ext>
            </p:extLst>
          </p:nvPr>
        </p:nvGraphicFramePr>
        <p:xfrm>
          <a:off x="581802" y="1492271"/>
          <a:ext cx="11028400" cy="40234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การกระทำของอาร์เจนตินาผิดกฎบัตร UN จนมีการมติที่ UNSCR 502 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-การใช้กำลังรุกรานฟอล์คแลนด์ของอาร์เจนตินาผิดกฏบัตร 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-การใช้กำลังรุกรานฟอล์คแลนด์ของอาร์เจนตินาผิดกฏบัตร 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การสนุบสนุนสู่อาร์เจนตินาจะต้องอย่างปกปิด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การอ้างสิทธิในการป้องกันตนเองตาม UN Article ที่ 51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-การอ้างสิทธิในการป้องกันตนเองของสหราชอาณาจักรชอบด้วยกฎหมายระหว่างประเทศ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-การอ้างสิทธิในการป้องกันตนเองของสหราชอาณาจักรชอบด้วยกฎหมายระหว่างประเทศ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การสนุบสนุนสู่อาร์เจนตินาจะต้องอย่างปกปิด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กฎหมายระหว่างประเทศว่าด้วยสงคราม กฎหมายระหว่างประเทศว่าด้วยการขัดกันด้วยอาวุธ กฎหมายมนุษยธรรม และ กฎหมายสิทธิมนุษยชน มีการจำกัดขอบเขตและรูปแบบสงคราม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-การปฏิบัติการทางทหารจะต้องพึงระมัดระวังภายใต้กรอบของกฎหมายเพื่อรักษาความชอบธรรมในการทำสงคราม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-การปฏิบัติการทางทหารจะต้องพึงระมัดระวังภายใต้กรอบของกฎหมายเพื่อรักษาความชอบธรรมในการทำสงคราม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อุปสรรคต่อทั้งสองฝ่าย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เนื่องจากจะต้องระมัดระวังในการปฏิบัติการมากขึ้น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Infrastructure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83" name="Google Shape;48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84" name="Google Shape;48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87" name="Google Shape;487;p34"/>
          <p:cNvGraphicFramePr/>
          <p:nvPr>
            <p:extLst>
              <p:ext uri="{D42A27DB-BD31-4B8C-83A1-F6EECF244321}">
                <p14:modId xmlns:p14="http://schemas.microsoft.com/office/powerpoint/2010/main" val="3148866998"/>
              </p:ext>
            </p:extLst>
          </p:nvPr>
        </p:nvGraphicFramePr>
        <p:xfrm>
          <a:off x="581802" y="1492271"/>
          <a:ext cx="11028400" cy="30175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ความพร้อมของโครงสร้างพื้นฐานและอุตสาหกรรมอยู่บนแผ่นดินใหญ่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-การซ่อมบำรุง และการสร้างสิ่งอำนวยความสะดวกเร่งด่วนด้วยศักยภาพบนเกาะฯ ไม่สามารถทำได้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-การซ่อมบำรุง และการสร้างสิ่งอำนวยความสะดวกเร่งด่วนด้วยศักยภาพบนเกาะฯ ไม่สามารถทำได้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การทำลายโครงสร้างพื้นฐานบนเกาะ จะทำให้กำลังอาร์เจนตินาบนเกาะไม่สามารถฟื้นตัวโครงสร้างพื้นฐานได้เอง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อาร์เจนตินายังไม่ใช่ประเทศอุตสาหกรรม และมีอัตราการผลิตลดลงอย่างต่อเนื่องตั้งแต่ ค.ศ.๑๙๗๙ เป็นต้นมา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-กำลังการผลิตที่ลดลง ทำให้เกิดการเลิกจ้างงาน ขาดแคลนแรงงาน อุตสาหกรรมมีการปิดตัว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-กำลังการผลิตที่ลดลง ทำให้เกิดการเลิกจ้างงาน ขาดแคลนแรงงาน อุตสาหกรรมมีการปิดตัว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การฟื้นตัวของกำลังรบที่สูญเสียไปจะทำได้อย่างจำกัด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Military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93" name="Google Shape;493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94" name="Google Shape;49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497" name="Google Shape;497;p35"/>
          <p:cNvGraphicFramePr/>
          <p:nvPr>
            <p:extLst>
              <p:ext uri="{D42A27DB-BD31-4B8C-83A1-F6EECF244321}">
                <p14:modId xmlns:p14="http://schemas.microsoft.com/office/powerpoint/2010/main" val="1502137870"/>
              </p:ext>
            </p:extLst>
          </p:nvPr>
        </p:nvGraphicFramePr>
        <p:xfrm>
          <a:off x="581802" y="1492271"/>
          <a:ext cx="11028400" cy="37186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กองทัพอาร์เจนตินาไม่ได้อยู่ในสถานะที่พร้อมในการทำสงคราม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-กำลังรบต่างๆ มีจำกัดทั้งจำนวน ขีดความสามารถ และ เทคโนโลยี รวมถึงความพร้อมในการใช้กำลัง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-กำลังรบต่างๆ มีจำกัดทั้งจำนวน ขีดความสามารถ และ เทคโนโลยี รวมถึงความพร้อมในการใช้กำลัง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 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การลิดรอนกำลังใดๆ ของอาร์เจนตินาจะส่งผลต่อทรัพยากรในการทำสงครามอย่างรุนแรง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กำลังพลส่วนมากในกองทัพอาร์เจนตินาขาดแรงบันดาลใจในการต่อสู้ (Will to Fight) 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-การทำสงครามยืดเยื้อ สร้างความสูญเสียทางกายภาพจะสร้างผลกระทบต่อจิตกำลังพลมากยิ่งขึ้น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-การทำสงครามยืดเยื้อ สร้างความสูญเสียทางกายภาพจะสร้างผลกระทบต่อจิตกำลังพลมากยิ่งขึ้น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ควรใช้การปฏิบัติการข่าวสาร (จิตวิทยา) เพื่อสร้างผลกระทบต่อจิตใจอย่างต่อเนื่อง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สามารถขอรับความช่วยเหลือทางทหารจากสหภาพโซเวียตได้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-สหภาพโซเวียตอาจสนับสนุนยุทโธปกรณ์ให้กับอาร์เจนตินารวมทั้งข้อมูลข่าวกรองต่างๆ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-สหภาพโซเวียตอาจสนับสนุนยุทโธปกรณ์ให้กับอาร์เจนตินารวมทั้งข้อมูลข่าวกรองต่างๆ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การสนับสนุนของสหภาพโซเวียตจะทำให้อาร์เจนตินามีขีดความสามารถมากขึ้น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Information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03" name="Google Shape;50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04" name="Google Shape;50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06" name="Google Shape;506;p3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507" name="Google Shape;507;p36"/>
          <p:cNvGraphicFramePr/>
          <p:nvPr>
            <p:extLst>
              <p:ext uri="{D42A27DB-BD31-4B8C-83A1-F6EECF244321}">
                <p14:modId xmlns:p14="http://schemas.microsoft.com/office/powerpoint/2010/main" val="757177975"/>
              </p:ext>
            </p:extLst>
          </p:nvPr>
        </p:nvGraphicFramePr>
        <p:xfrm>
          <a:off x="581802" y="1492271"/>
          <a:ext cx="11028400" cy="41148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รัฐบาลทหารสามารถควบคุมสื่อฯ ต่าง ๆ ภายในประเทศได้ทั้งหมด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-สื่อฯ ภายในประเทศอาร์เจนตินาโดนควบคุมและใช้เป็นกระบอกเสียงรัฐบาล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-สื่อฯ ภายในประเทศอาร์เจนตินาโดนควบคุมและใช้เป็นกระบอกเสียงรัฐบาล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การปฏิบัติการข่าวสารโดยตรงต่อ ปชช. อาร์เจนฯ ทำได้อย่างจำกัด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การจำกัดการถ่ายเทข้อมูลข่าวสารทั้งภายในและภายนอก มีผลต่อความเร็วของวงรอบข่าวสาร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-การเพิ่มเติมข้อมูลจากภายนอกจะเพิ่มภาระในการกลั่นกรองข้อมูลข่าวสารองอาร์เจนตินา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-การเพิ่มเติมข้อมูลจากภายนอกจะเพิ่มภาระในการกลั่นกรองข้อมูลข่าวสารองอาร์เจนตินา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ป้อนข้อมูลจำนวนมากเร่งให้เกิด Information Overload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ภาษาอังกฤษมีความเป็นสากลมากกว่าภาษาสเปน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-ประชากรส่วนใหญ่ในโลกใช้ภาษาอังกฤษได้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-ประชากรอาร์เจนตินามีอัตราการรู้หนังสือที่ร้อยละ ๙๔ ซึ่งมีความรู้ภาษาอังกฤษ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ต้องมีการกำหนดมาตรการความปลอดภัยในการสื่อสารที่เพียงพอ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สามารถสื่อสารไปยังประชาคมระหว่างประเทศได้ง่ายกว่า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7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Technology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13" name="Google Shape;513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14" name="Google Shape;51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16" name="Google Shape;516;p3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517" name="Google Shape;517;p37"/>
          <p:cNvGraphicFramePr/>
          <p:nvPr>
            <p:extLst>
              <p:ext uri="{D42A27DB-BD31-4B8C-83A1-F6EECF244321}">
                <p14:modId xmlns:p14="http://schemas.microsoft.com/office/powerpoint/2010/main" val="1431513513"/>
              </p:ext>
            </p:extLst>
          </p:nvPr>
        </p:nvGraphicFramePr>
        <p:xfrm>
          <a:off x="581802" y="1492271"/>
          <a:ext cx="11028400" cy="24079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อาร์เจนตินายังคงต้องพึ่งพาเทคโนโลยีทางทหารทั้งหมดจากประเทศในกลุ่ม NATO และ EEC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-เทคโนโลยีต่างๆ ที่อาร์เจนตินาต้องใช้มาจากพันธมิตรของฝ่ายเรา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-เทคโนโลยีต่างๆ ที่อาร์เจนตินาต้องใช้มาจากพันธมิตรของฝ่ายเรา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สามารถเจรจาขอให้ระงับการส่งอะไหล่ และข้อข้อมูลต่างๆ ที่จำเป็นในการปฏิบัติการได้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ยุทโธปกรณ์ทางอากาศทั้งหมด เป็นการพึ่งพาจากฝรั่งเศสและเยอรมนี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-เยอรมนีและฝรั่งเศส เป็นพันธมิตรใกล้ชิดของฝ่ายเรา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-เยอรมนีและฝรั่งเศส เป็นพันธมิตรใกล้ชิดของฝ่ายเรา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สามารถเจรจาขอให้ระงับการส่งอะไหล่ และข้อข้อมูลต่างๆ ที่จำเป็นในการปฏิบัติการได้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วิเคราะห์คุณลักษณะที่ไม่ใช่ทางกายภาพ : PELIMITS : Social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23" name="Google Shape;523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24" name="Google Shape;52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527" name="Google Shape;527;p38"/>
          <p:cNvGraphicFramePr/>
          <p:nvPr>
            <p:extLst>
              <p:ext uri="{D42A27DB-BD31-4B8C-83A1-F6EECF244321}">
                <p14:modId xmlns:p14="http://schemas.microsoft.com/office/powerpoint/2010/main" val="1125107996"/>
              </p:ext>
            </p:extLst>
          </p:nvPr>
        </p:nvGraphicFramePr>
        <p:xfrm>
          <a:off x="581802" y="1492271"/>
          <a:ext cx="11028400" cy="47244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ประชากรส่วนใหญ่ของอาร์เจนตินาเป็นคริสต์แบบคาทอลิค เคร่งศาสนา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-ความแตกต่างของนิกายทางศาสนาที่มีความขัดแย้งมาตั้งแต่ในอดีต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-ความแตกต่างของนิกายทางศาสนาที่มีความขัดแย้งมาตั้งแต่ในอดีต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สามารถปฏิบัติการข่าวสารโดยใช้ประเด็น “บาป” ของศาสนาได้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i="0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การปฏิบัติการตัองระมัดระวังไม่ให้เกิดความขัดแย้งเพิ่มในประเด็นศาสนา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ประชากรบนเกาะฟอล์คแลนด์เป็นชาวอังกฤษมีอาชีพเกษตรกรรม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-ประชากรไม่ต้องการเปลี่ยนสัญชาติเป็นคนอาร์เจนตินา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-ประชากรไม่ต้องการเปลี่ยนสัญชาติเป็นคนอาร์เจนตินา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ได้รับการสนับสนุนจากประชาชนบนเกาะ และอาร์เจนตินาจะต้องเสริมกำลังด้วยกำลังพลจากบนแผ่นดินใหญ่เท่านั้น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ความขัดแย้งระหว่างอาร์เจนตินา และ สหราชอาณาจักรในเรื่องฟอล์คแลนด์มีประวัติมายาวนาน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-การปฏิบัติการต่างๆ สามารถเชื่อมโยงสู่ความขัดแย้งในอดีต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-การปฏิบัติการต่างๆ สามารถเชื่อมโยงสู่ความขัดแย้งในอดีต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โดยฝ่ายข้าศึกสามารถใช้ประเด็นนี้ขยายอุดมการณ์ชาตินิยมได้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วิเคราะห์ปัจจัยเวลา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33" name="Google Shape;533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34" name="Google Shape;53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36" name="Google Shape;536;p3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39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537" name="Google Shape;537;p39"/>
          <p:cNvGraphicFramePr/>
          <p:nvPr>
            <p:extLst>
              <p:ext uri="{D42A27DB-BD31-4B8C-83A1-F6EECF244321}">
                <p14:modId xmlns:p14="http://schemas.microsoft.com/office/powerpoint/2010/main" val="4178276435"/>
              </p:ext>
            </p:extLst>
          </p:nvPr>
        </p:nvGraphicFramePr>
        <p:xfrm>
          <a:off x="581802" y="1492271"/>
          <a:ext cx="11028400" cy="49073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เวลาในการเตรียมการ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-ไม่ได้เป็นฝ่านริเริ่มต้องเตรียมการอย่าเร่งด่วน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-เป็นฝ่ายริเริ่มทำให้มีเวลาเตรียมการล่วงหน้า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มีเวลาในการเตรียมการน้อยกว่า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ระยะเวลาที่สามารถทำสงครามได้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-ทรัพยากร ความพร้อมสามารถทำสงครามยืดเยื้อได้หากจำเป็น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-ทรัพยากรและความพร้อมไม่สามารถทำสงครามระยะยาวได้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สามารถเลือก COA ให้อาร์เจนตินาถึงจุด CP ได้ง่ายขึ้น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เวลาในการเดินทาง (Transit Time) 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-ระยะทางราวๆ ๗,๕๐๐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-ระยะทางราวๆ ๓๐๐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ใช้เวลาในการเดินทางมากกว่าประมาณ ๒๕ เท่า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เวลาในการเสริมกำลังในพื้นที่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-ระยะทางราวๆ ๗,๕๐๐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-ระยะทางราวๆ ๓๐๐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ต้องใช้เวลาในการเสริมกำลังนานกว่า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เวลาในการฟื้นตัวของกำลังรบ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-พึ่งพาตนเองและพันธมิตรในเทคโนโลยีทางทหาร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-พึ่งพาประเทศอื่น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มีศักยภาพภายในประเทศในการฟื้นตัว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เวลาในการระดมสรรพกำลังเพิ่มเติม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-รัฐบาลประชาธิปไตยมีขั้นตอนการพิจารณา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-รัฐบาลเผด็จการสามารถระดมพลได้โดยการลัดขั้นตอน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โดยหากจำเป็นต้องระดมสรรพกำลังจะต้องใช้เวลานานกว่า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วิเคราะห์ปัจจัยเวลา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43" name="Google Shape;543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44" name="Google Shape;54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46" name="Google Shape;546;p4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40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547" name="Google Shape;547;p40"/>
          <p:cNvGraphicFramePr/>
          <p:nvPr>
            <p:extLst>
              <p:ext uri="{D42A27DB-BD31-4B8C-83A1-F6EECF244321}">
                <p14:modId xmlns:p14="http://schemas.microsoft.com/office/powerpoint/2010/main" val="2876954335"/>
              </p:ext>
            </p:extLst>
          </p:nvPr>
        </p:nvGraphicFramePr>
        <p:xfrm>
          <a:off x="581802" y="1492271"/>
          <a:ext cx="11028400" cy="48159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เวลาในการจัดหาอาวุธใหม่เพิ่มเติม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-อาวุธใช้อุตสาหกรรมในประเทศ และเป็นผู้ส่งออก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-ใช้การนำเข้าจากต่างประเทศ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สามารถผลิตได้เอง หรือ ขอยืมจากประเทศคู่ค้า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เวลาในปฏิบัติการเพื่อบรรลุภารกิจ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-เป็นฝ่ายรุกเพื่อยึดคืนสามารถกำหนดช่วงเวลาในการบรรลุภารกิจได้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-ไม่ได้เป็นฝ่ายกำหนดเวลาในการบรรลุภารกิจ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สามารถเลือกเวลาในการบรรลุภารกิจได้ที่เหมาะสม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เวลาในการตรวจจับและแจ้งเตือน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-การตรวจจับของกองเรือมีความหลากหลาย ขยายระยะตรวจการณ์ได้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-พื้นที่ปฏิบัติการอยู่ในรัศมีการตรวจการณ์หลายเหล่าทัพ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เกื้อกูลต่อทั้งสองฝ่าย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สามารถเลือกใช้วิธีการในการตรวจการณ์ที่เหมาะสมได้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A8D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เวลาในการตอบสนองภัยคุกคาม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-เป็นกำลังขนาดใหญ่ อาวุธหลากหลายที่สามารถตอบโต้ภัยคุกคามได้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-การตัดสินใจขึ้นอยู่กับผู้บังคับบัญชาระดับบนๆ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จำเป็นต้องมีการกำหนดขั้นตอน การสั่งการที่ชัดเจนในการตอบโต้ภัยคุกคาม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เวลาของวงรอบในการตัดสินใจ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-มีการแบ่งสายการบังคับบัญชา มอบอำนาจ และ ROE 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-การตัดสินใจขึ้นอยู่กับผู้บังคับบัญชาระดับบนๆ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สามารถใช้การปฏิบัติการข่าวสาร เพื่อเพิ่มระยะเวลาตัดสินใจของฝ่ายข้าศึกได้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สรุปผลกระทบที่สำคัญ : ปัจจัยพื้นที่-เวลา (Time – Space Factor)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53" name="Google Shape;553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อธิบายผลกระทบของสภาพแวดล้อมทางยุทธการ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54" name="Google Shape;55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56" name="Google Shape;556;p4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41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57" name="Google Shape;557;p41"/>
          <p:cNvGraphicFramePr/>
          <p:nvPr>
            <p:extLst>
              <p:ext uri="{D42A27DB-BD31-4B8C-83A1-F6EECF244321}">
                <p14:modId xmlns:p14="http://schemas.microsoft.com/office/powerpoint/2010/main" val="1045028027"/>
              </p:ext>
            </p:extLst>
          </p:nvPr>
        </p:nvGraphicFramePr>
        <p:xfrm>
          <a:off x="581802" y="1370781"/>
          <a:ext cx="11028400" cy="54255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ช่วงเวลาระหว่าง ก.ค.-ก.ย.มีมรสุม และเข้าฤดูหนาว (กลางวันสั้น) มีฝนตกเฉลี่ยสูงในเดือน มิ.ย. ในเดือน พ.ค.มีน้ำลงต่ำสุด ในพื้นที่</a:t>
                      </a:r>
                      <a:endParaRPr sz="2000" b="1" u="none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-การปฏิบัติการต่างๆ ในพื้นที่มีข้อจำกัดมากขึ้นเมื่อเข้าฤดูหนาวและหน้ามรสุม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-การเพิ่มเติมกำลังบนเกาะในช่วงมรสุมทำได้ลำบาก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เกื้อกูลฝ่ายเรา (เม.ย.-พ.ค.)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มีเสรีในการปฏิบัติการ เหมาะกับการยกพลฯ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 (มิ.ย.-ต.ค.)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จากสภาพอากาศในพื้นที่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ระยะทางถึงพื้นที่ปฏิบัติการของทั้งสองฝ่าย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-มีระยะทางไกล การส่งกำลังบำรุง การเพิ่มเติมกำลัง มีข้อจำกัดมาก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-มีระยะทางไกล การส่งกำลังบำรุง การเพิ่มเติมกำลัง ใช้เวลาน้อยกว่า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จะต้องเตรียมกำลังที่สมบูรณ์ในตัวเอง และเพียงพอในการปฏิบัติการ กำหนดวงรอบการ กบ.ที่ดี และควรขัดขวางการ กบ. ข้าศึก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ขีดความสามารในการฟื้นคือกำลังจากพื้นที่ซ่อมทำ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-ต้องใช้ระยะทางไปยังพื้นที่ซ่อมคืนกำลังไกลกว่า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-ระยะเวลาแม้ว่าจะสั้นกว่า แต่ขีดความสามารถอุตสาหกรรมไม่พร้อม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อุปสรรคต่อทั้งสองฝ่าย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หากโดนลิดรอนกำลังใดๆ จะไม่สามารถนำกลับมาใช้ในสงครามได้อีก</a:t>
                      </a:r>
                      <a:endParaRPr sz="2000" b="1" u="sng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พื้นที่การป้องกันเกาะกับวงรอบการตัดสินใจ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-ฝ่ายเราเป็น Exterior Position หากฝ่ายเราเข้าปฏิบัติการด้านตะวันตกจะเป็น Interior Position 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-ฝ่ายข้าศึกเป็น Interior Position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อุปสรรคต่อทั้งสองฝ่าย</a:t>
                      </a:r>
                      <a:r>
                        <a:rPr lang="th-TH" sz="2000" b="1" u="none" strike="noStrike" cap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จะต้องพิจารณาการดำเนินกลยุทธ์อย่างเหมาะสม</a:t>
                      </a:r>
                      <a:endParaRPr sz="2000" b="1" u="sng" strike="noStrike" cap="none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2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ภาพแสดงผลกระทบของสภาวะแวดล้อมทางยุทธการทางบก : LAND MCOO</a:t>
            </a:r>
            <a:endParaRPr sz="1800" b="1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63" name="Google Shape;563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/>
              <a:t>	</a:t>
            </a:r>
            <a:r>
              <a:rPr lang="th-TH" b="1">
                <a:latin typeface="Sarabun"/>
                <a:ea typeface="Sarabun"/>
                <a:cs typeface="Sarabun"/>
                <a:sym typeface="Sarabun"/>
              </a:rPr>
              <a:t>อธิบายผลกระทบของสภาพแวดล้อมทางยุทธการ</a:t>
            </a:r>
            <a:endParaRPr/>
          </a:p>
        </p:txBody>
      </p:sp>
      <p:pic>
        <p:nvPicPr>
          <p:cNvPr id="564" name="Google Shape;56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66" name="Google Shape;566;p4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42</a:t>
            </a:r>
            <a:endParaRPr sz="1800" b="1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567" name="Google Shape;567;p42" descr="A picture containing text, map, screensho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871" y="0"/>
            <a:ext cx="12024503" cy="6776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3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ภาพแสดงผลกระทบของสภาวะแวดล้อมทางยุทธการทางอากาศ : AIR MCOO</a:t>
            </a:r>
            <a:endParaRPr sz="1800" b="1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73" name="Google Shape;573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/>
              <a:t>	</a:t>
            </a:r>
            <a:r>
              <a:rPr lang="th-TH" b="1">
                <a:latin typeface="Sarabun"/>
                <a:ea typeface="Sarabun"/>
                <a:cs typeface="Sarabun"/>
                <a:sym typeface="Sarabun"/>
              </a:rPr>
              <a:t>อธิบายผลกระทบของสภาพแวดล้อมทางยุทธการ</a:t>
            </a:r>
            <a:endParaRPr/>
          </a:p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76" name="Google Shape;576;p4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43</a:t>
            </a:r>
            <a:endParaRPr/>
          </a:p>
        </p:txBody>
      </p:sp>
      <p:pic>
        <p:nvPicPr>
          <p:cNvPr id="577" name="Google Shape;577;p43" descr="A picture containing text, map, diagram, atla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871" y="0"/>
            <a:ext cx="12048188" cy="6776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4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ภาพแสดงผลกระทบของสภาวะแวดล้อมทางยุทธการทางทะเล : MARITIME MCOO</a:t>
            </a:r>
            <a:endParaRPr sz="1800" b="1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83" name="Google Shape;58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/>
              <a:t>	</a:t>
            </a:r>
            <a:r>
              <a:rPr lang="th-TH" b="1">
                <a:latin typeface="Sarabun"/>
                <a:ea typeface="Sarabun"/>
                <a:cs typeface="Sarabun"/>
                <a:sym typeface="Sarabun"/>
              </a:rPr>
              <a:t>อธิบายผลกระทบของสภาพแวดล้อมทางยุทธการ</a:t>
            </a:r>
            <a:endParaRPr/>
          </a:p>
        </p:txBody>
      </p:sp>
      <p:pic>
        <p:nvPicPr>
          <p:cNvPr id="584" name="Google Shape;58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86" name="Google Shape;586;p4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43</a:t>
            </a:r>
            <a:endParaRPr/>
          </a:p>
        </p:txBody>
      </p:sp>
      <p:pic>
        <p:nvPicPr>
          <p:cNvPr id="587" name="Google Shape;587;p44" descr="A picture containing text, map, diagram, pla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9" y="0"/>
            <a:ext cx="12140521" cy="6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5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ทบทวนสถานการณ์ฝ่ายตรงข้าม : การวางกำลังทางบก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93" name="Google Shape;593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94" name="Google Shape;59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596" name="Google Shape;596;p4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597" name="Google Shape;597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544" y="1630293"/>
            <a:ext cx="7564909" cy="447720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98" name="Google Shape;598;p45"/>
          <p:cNvPicPr preferRelativeResize="0"/>
          <p:nvPr/>
        </p:nvPicPr>
        <p:blipFill rotWithShape="1">
          <a:blip r:embed="rId5">
            <a:alphaModFix/>
          </a:blip>
          <a:srcRect l="38781" t="44025" r="33915" b="35472"/>
          <a:stretch/>
        </p:blipFill>
        <p:spPr>
          <a:xfrm>
            <a:off x="8505645" y="1630293"/>
            <a:ext cx="3328861" cy="140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9795" y="3631018"/>
            <a:ext cx="3364711" cy="2476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6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ทบทวนสถานการณ์ฝ่ายตรงข้าม : การวางกำลังทางเรือ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05" name="Google Shape;605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06" name="Google Shape;60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46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609" name="Google Shape;609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950" y="1528762"/>
            <a:ext cx="6916924" cy="48806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0" name="Google Shape;61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3825" y="1528763"/>
            <a:ext cx="4775839" cy="30867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1" name="Google Shape;611;p46"/>
          <p:cNvPicPr preferRelativeResize="0"/>
          <p:nvPr/>
        </p:nvPicPr>
        <p:blipFill rotWithShape="1">
          <a:blip r:embed="rId6">
            <a:alphaModFix/>
          </a:blip>
          <a:srcRect l="34881" t="31324" r="29670" b="25408"/>
          <a:stretch/>
        </p:blipFill>
        <p:spPr>
          <a:xfrm>
            <a:off x="7323825" y="4133150"/>
            <a:ext cx="3315348" cy="227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7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ทบทวนสถานการณ์ฝ่ายตรงข้าม : การวางกำลังทางอากาศ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17" name="Google Shape;617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18" name="Google Shape;61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20" name="Google Shape;620;p4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47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621" name="Google Shape;621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183" y="1511555"/>
            <a:ext cx="6587902" cy="434051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22" name="Google Shape;622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6470" y="1511555"/>
            <a:ext cx="5243195" cy="34601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8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กำลังทางบก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28" name="Google Shape;628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29" name="Google Shape;6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31" name="Google Shape;631;p4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632" name="Google Shape;632;p48"/>
          <p:cNvGraphicFramePr/>
          <p:nvPr>
            <p:extLst>
              <p:ext uri="{D42A27DB-BD31-4B8C-83A1-F6EECF244321}">
                <p14:modId xmlns:p14="http://schemas.microsoft.com/office/powerpoint/2010/main" val="581216953"/>
              </p:ext>
            </p:extLst>
          </p:nvPr>
        </p:nvGraphicFramePr>
        <p:xfrm>
          <a:off x="737103" y="1264252"/>
          <a:ext cx="11183700" cy="55169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372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ประเภทกำลังรบ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ขีดความสามารถ</a:t>
                      </a:r>
                      <a:endParaRPr sz="2000" b="1" u="none" strike="noStrike" cap="none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วิธีการใช้กำลัง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none" strike="noStrike" cap="none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ทหารราบ </a:t>
                      </a:r>
                      <a:r>
                        <a:rPr lang="th-TH" sz="2000" b="1" u="none" strike="noStrike" cap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จำนวน ๑๐ กรมทหารราบ พร้อม กรมเครื่องยิงลูกระเบิด (Mortar)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-Machine Gun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-M20 Bazooka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-81 mm Mortar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-ตั้งรับ (ป้องกันฐานที่มั่น)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-โจมตีเป้าหมายทางทะเล (ระยะใกล้)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-โจมีเป้าหมายทางบก</a:t>
                      </a:r>
                      <a:endParaRPr sz="20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5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ยานเกราะ  </a:t>
                      </a: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(๑ หมวดยานเกราะ ๑ หมวดรถหุ้มเกราะ ๑ หมวดรถสะเทินน้ำสะเทินบก ๑ หมวดปืนนาวิกโยธิน)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-Panhard AML-90 90 mm Armored Car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-LVTP-7 AAV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-การยิงสนับสนุนด้วยปืนใหญ่รถถัง และ ปืนกลรถถัง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ปืนใหญ่ </a:t>
                      </a: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กองพันปืนใหญ่ ๓ กองพัน</a:t>
                      </a:r>
                      <a:endParaRPr sz="2000" b="1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-120 mm Mortar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-105 mm Czekalski 1968 &amp; M56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-CITER 155/33 mm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-การยิงสนับสนุนด้วยปืนใหญ่ต่อเป้าหมายทางทะเล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-การยิงสนับสนุนด้วยปืนใหญ่ต่อเป้าหมายทางบก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หน่วยต่อสู้อากาศยาน </a:t>
                      </a: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๔ กรมต่อสู้อากาศยาน</a:t>
                      </a:r>
                      <a:endParaRPr sz="2000" b="1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-20 mm , 30 mm &amp; 35 mm Machine Gun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-SAM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-การป้องกันภัยทางอากาศแบบ Point Defense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หน่วยทหารช่าง </a:t>
                      </a: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๔ กองร้อยทหารช่าง</a:t>
                      </a:r>
                      <a:endParaRPr sz="2000" b="1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-การสนับสนุนการช่วยรบ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-สนามทุ่นระเบิด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หน่วยปฏิบัติการพิเศษ </a:t>
                      </a: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จำนวน ๖ กองร้อย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-การปฏิบัตการโดยตรง การลาดตระเวนหาข่าว ก่อวินาศกรรม และ ป้องกันภัยทางอากาศ</a:t>
                      </a:r>
                      <a:endParaRPr sz="20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9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กำลังทางเรือ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38" name="Google Shape;638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39" name="Google Shape;63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41" name="Google Shape;641;p4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49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642" name="Google Shape;642;p49"/>
          <p:cNvGraphicFramePr/>
          <p:nvPr>
            <p:extLst>
              <p:ext uri="{D42A27DB-BD31-4B8C-83A1-F6EECF244321}">
                <p14:modId xmlns:p14="http://schemas.microsoft.com/office/powerpoint/2010/main" val="938359077"/>
              </p:ext>
            </p:extLst>
          </p:nvPr>
        </p:nvGraphicFramePr>
        <p:xfrm>
          <a:off x="737103" y="1442119"/>
          <a:ext cx="11183700" cy="432820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372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ประเภทกำลังรบ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ขีดความสามารถ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วิธีการใช้กำลัง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เรือบรรทุกเครื่องบิน (๑ ลำ)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-S-2E Trackers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-A-4Q Skyhawk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-S-61D Sea King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-A-103 Helicopter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-Sea Control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-Air / Maritime Superiority (AAW)เ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-MAS (Maritime Air Strike)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-C2 ISR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เรือลาดตระเวน (๑ ลำ) (Non-AShM)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-8 SAM (Sea Cat) by 2 Quad Launcher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-153/47 mm Gun ,127 mm Gun &amp; 40 mm 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-2 Helo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-NGS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-AAW (point) , ASUW (Gun)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-Mine Layer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เรือรบสมรรถนะสูง (๕ ลำ) (AShM)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Type 42 Class (๒ ลำ)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Drummond Class (๓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-4 SSM Exocet &amp; 2 SSM Exocet for FFG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-Sea Cat (Twin Launcher)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-6 Torpedo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-4.5 inch Gun &amp; 20 mm Gun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-1 Helo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-NGS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-AAW(Point), ASUW (Long Range) , ASW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-ISR (Air Surveillance)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3" name="Google Shape;643;p49"/>
          <p:cNvSpPr/>
          <p:nvPr/>
        </p:nvSpPr>
        <p:spPr>
          <a:xfrm>
            <a:off x="6219645" y="1966823"/>
            <a:ext cx="258793" cy="43994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644" name="Google Shape;644;p49"/>
          <p:cNvSpPr txBox="1"/>
          <p:nvPr/>
        </p:nvSpPr>
        <p:spPr>
          <a:xfrm>
            <a:off x="6633714" y="2002130"/>
            <a:ext cx="1383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จำนวนรวม ๑๘ ลำ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6219645" y="2539722"/>
            <a:ext cx="258793" cy="43994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646" name="Google Shape;646;p49"/>
          <p:cNvSpPr txBox="1"/>
          <p:nvPr/>
        </p:nvSpPr>
        <p:spPr>
          <a:xfrm>
            <a:off x="6633714" y="2579565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จำนวนรวม ๔ ลำ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0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กำลังทางเรือ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52" name="Google Shape;652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53" name="Google Shape;65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55" name="Google Shape;655;p5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50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656" name="Google Shape;656;p50"/>
          <p:cNvGraphicFramePr/>
          <p:nvPr>
            <p:extLst>
              <p:ext uri="{D42A27DB-BD31-4B8C-83A1-F6EECF244321}">
                <p14:modId xmlns:p14="http://schemas.microsoft.com/office/powerpoint/2010/main" val="144235469"/>
              </p:ext>
            </p:extLst>
          </p:nvPr>
        </p:nvGraphicFramePr>
        <p:xfrm>
          <a:off x="737103" y="1442119"/>
          <a:ext cx="11183700" cy="44196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372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ประเภทกำลังรบ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ขีดความสามารถ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วิธีการใช้กำลัง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เรือพิฆาต+ฟริเกต (๔ ลำ) (Non-AShM)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Sumner Class (๓ ลำ)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Gearing Class (๑ ลำ)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-127 mm Gun with Mk 105 FCS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-40 mm Gun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-ASW Drone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-NGS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-AAW (Point), ASUW (Gun), ASW (Depth Charge)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เรือตรวจการณ์ (Patrol) (๓ ลำ)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-40 mm &amp; 20 mm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-ISR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-Mine Layer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เรือขนส่งและสนับสนุน ๖ ลำ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-Troops Transport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-Logistic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-Medical Ship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เรือดำน้ำ (๔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GUPPY (๒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Char char="-"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Salta Class (Type 209) (๒ ลำ)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-Heavy Weight Torpedo (10 Guppy, 8 Salta)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-ASUW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-ISR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-Spec Ops Support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-Mine Layer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1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กำลังทางอากาศ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62" name="Google Shape;662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63" name="Google Shape;66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51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666" name="Google Shape;666;p51"/>
          <p:cNvGraphicFramePr/>
          <p:nvPr>
            <p:extLst>
              <p:ext uri="{D42A27DB-BD31-4B8C-83A1-F6EECF244321}">
                <p14:modId xmlns:p14="http://schemas.microsoft.com/office/powerpoint/2010/main" val="2998900426"/>
              </p:ext>
            </p:extLst>
          </p:nvPr>
        </p:nvGraphicFramePr>
        <p:xfrm>
          <a:off x="737103" y="1442119"/>
          <a:ext cx="11183700" cy="44196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372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ประเภทกำลังรบ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ขีดความสามารถ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วิธีการใช้กำลัง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Fighter (๘๙ ลำ)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-Mirage IIIEA (๖๒ ลำ)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-Mirage V (Dagger) (๒๗ ลำ) 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-Range Approx 650 nm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-AAW Missile / Bomb / Guided Missile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-ลาดตระเวนทางอากาศ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-Air Combat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-Land Attack (Bomb / AShM)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-Maritime Air Strike (Bomb / AShM)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Attacker (๖๒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-Super Etendard (๔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-A4 Skyhawk (๓๔ ลำ)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-IA58 Pucara (๒๔ ลำ)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-Range 350 nm (Etendard), 1,100 nm (A4)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1,640 nm (IA 58)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-Exocet AShM (Etendard)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-Bobm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-ลาดตระเวนทางอากาศ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-CAS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-MAS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Transport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-ขนส่งทางอากาศ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-ส่งกำลังทางอากาศ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Helicopter (๔ ลำ)</a:t>
                      </a:r>
                      <a:endParaRPr sz="2000" b="1">
                        <a:solidFill>
                          <a:schemeClr val="dk1"/>
                        </a:solidFill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-Range 295 nm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-ลำเลียงทางอากาศ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-SAR 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เปรียบเทียบกำลังรบ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72" name="Google Shape;672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73" name="Google Shape;67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676" name="Google Shape;676;p52" descr="A graph with blue and orange bars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3374" y="1421622"/>
            <a:ext cx="8922589" cy="501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3"/>
          <p:cNvSpPr/>
          <p:nvPr/>
        </p:nvSpPr>
        <p:spPr>
          <a:xfrm>
            <a:off x="2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วิเคราะห์ขีดความสามารถฝ่ายตรงข้าม : เปรียบเทียบกำลังทางอากาศ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82" name="Google Shape;682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85" name="Google Shape;685;p5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686" name="Google Shape;686;p53" descr="A picture containing text, screenshot, plot, lin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1107" y="1535403"/>
            <a:ext cx="8154838" cy="4587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4"/>
          <p:cNvSpPr/>
          <p:nvPr/>
        </p:nvSpPr>
        <p:spPr>
          <a:xfrm>
            <a:off x="350015" y="3983071"/>
            <a:ext cx="11627472" cy="828135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692" name="Google Shape;692;p54"/>
          <p:cNvSpPr/>
          <p:nvPr/>
        </p:nvSpPr>
        <p:spPr>
          <a:xfrm>
            <a:off x="350015" y="2359213"/>
            <a:ext cx="11627472" cy="828135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693" name="Google Shape;693;p54"/>
          <p:cNvSpPr/>
          <p:nvPr/>
        </p:nvSpPr>
        <p:spPr>
          <a:xfrm>
            <a:off x="2" y="848984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วิเคราะห์ภารกิจและเจตนารมย์ฝ่ายตรงข้าม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94" name="Google Shape;694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95" name="Google Shape;69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97" name="Google Shape;697;p5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698" name="Google Shape;698;p54"/>
          <p:cNvSpPr/>
          <p:nvPr/>
        </p:nvSpPr>
        <p:spPr>
          <a:xfrm>
            <a:off x="350015" y="5280378"/>
            <a:ext cx="11627472" cy="828135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  <a:sym typeface="Calibri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406733" y="1477050"/>
            <a:ext cx="11514037" cy="469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จุดมุ่งระดับยุทธศาสตร์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เพื่อสร้างแรงสนับสนุนจากประชาชนด้วยกระแสชาตินิยมและการสถาปนาอำนาจอธิปไตยบนหมู่เกาะฟอล์คแลนด์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สภาวะสุดท้ายที่ต้องการ (ยุทธศาสตร์)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รัฐบาลอาร์เจนตินามีอำนาจเหนือหมู่เกาะฟอล์คแลนด์</a:t>
            </a:r>
            <a:endParaRPr sz="2400" b="1" u="sng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จุดมุ่งระดับยุทธการ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เพื่อป้องกันสหราชอาณาจักรยึดคืนหมู่เกาะฟอล์คแลนด์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สภาวะสุดท้ายที่ต้องการ (ทางทหาร)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กองกำลังสหราชอาณาจักรไม่สามารถยึดคืนเกาะฟอล์คแลนด์ได้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ความตั้งใจของผู้บังคับบัญชา (CDR’s Intent)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กองกำลังอาร์เจนตินาจะใช้กำลังทางบก สนับสนุนด้วยกำลังทางเรือและทางอากาศ เพื่อป้องกันการยึดคืนหมู่เกาะฟอล์คแลนด์จากสหราชอาณาจักร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วิธีการ (Method)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: ปฏิบัติการเชิงรับป้องกันพื้นที่สำคัญรอบหมู่เกาะฟอล์คแลนด์ โดยการปฏิเสธการใช้ทะเลและป้องกันการยกพลขึ้นบก และ ปฏิบัติการเชิงรุกเมื่อสภาพอากาศได้เปรียบภายใต้อิทธิพลการปฏิบัติการของกำลังทางอากาศและทางเรือ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จุดมุ่ง (Purpose)</a:t>
            </a:r>
            <a:r>
              <a:rPr lang="th-TH" sz="2400" b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</a:t>
            </a: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: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เพื่อขัดขวางการปฏิบัติการทางทหารจากสหราชอาณาจักรในการยึดคืนหมู่เกาะฟอล์คแลนด์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ภารกิจ</a:t>
            </a: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: จะปฏิบัติการเชิงรับ ป้องกันพื้นที่สำคัญรอบหมู่เกาะฟอล์คแลนด์ และ ปฏิบัติการเชิงรุกเมื่อได้เปรียบ เพื่อขัดขวางการปฏิบัติการทางทหารของสหราชอาณาจักรในการยึดคืนหมู่เกาะฟอล์คแลนด์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5"/>
          <p:cNvSpPr/>
          <p:nvPr/>
        </p:nvSpPr>
        <p:spPr>
          <a:xfrm>
            <a:off x="2" y="848984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การจัดทำรูปแบบการปฏิบัติฝ่ายตรงข้าม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05" name="Google Shape;705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06" name="Google Shape;70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08" name="Google Shape;708;p5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55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09" name="Google Shape;709;p55"/>
          <p:cNvSpPr txBox="1"/>
          <p:nvPr/>
        </p:nvSpPr>
        <p:spPr>
          <a:xfrm>
            <a:off x="406734" y="1477050"/>
            <a:ext cx="5260822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ปัจจัยเข้มแข็งวิกฤติ (CS)</a:t>
            </a:r>
            <a:endParaRPr sz="2400" b="1" u="sng">
              <a:solidFill>
                <a:srgbClr val="FF0000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-การโจมตีด้วยอากาศยานจากฝั่ง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-ความหลากหลายของการปฏิบัติการทางอากาศ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-ความสูงชันของภูมิประเทศในการตั้งรับและตรวจการณ์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-กำลังทางเรือใช้ประโยชน์จากสภาพชายฝั่งและหมู่เกาะ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-เป็นทะเลเปิดสะดวกในการพิสูจน์ทราบ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-เส้นทางคมนาคมใกล้ (กบ.)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-หากป้องกันเกาะได้จนถึงช่วงมรสุมจะได้เปรียบจากสภาพอากาศ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-ทุ่นระเบิด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-กองกำลังทางบก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10" name="Google Shape;710;p55"/>
          <p:cNvCxnSpPr/>
          <p:nvPr/>
        </p:nvCxnSpPr>
        <p:spPr>
          <a:xfrm>
            <a:off x="6096000" y="1457864"/>
            <a:ext cx="0" cy="464963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1" name="Google Shape;711;p55"/>
          <p:cNvSpPr txBox="1"/>
          <p:nvPr/>
        </p:nvSpPr>
        <p:spPr>
          <a:xfrm>
            <a:off x="6278447" y="1457864"/>
            <a:ext cx="5260822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ปัจจัยอ่อนแอวิกฤติ (CW)</a:t>
            </a:r>
            <a:endParaRPr sz="2400" b="1" u="sng">
              <a:solidFill>
                <a:srgbClr val="FF0000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-มีท่าเรือ Port Stanley เพียงแห่งเดียวที่มีขนาดใหญ่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-ประชากรบนเกาะเป็นชาวอังกฤษ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-มีพื้นที่ยกพลฯ ได้หลายแห่ง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-พื้นที่เกาะฯ มีขนาดกว้างใหญ่ทำให้ต้องกระจายกำลัง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-มีสนามบินหลักเพียงแห่งเดียว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-ขีดความสามารถของกำลังทางเรือ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-การพึ่งพายุทโธปกรณ์จากภายนอก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-การป้องกันเกาะจากบนบกด้วยอาวุธระยะไกล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6"/>
          <p:cNvSpPr/>
          <p:nvPr/>
        </p:nvSpPr>
        <p:spPr>
          <a:xfrm>
            <a:off x="2" y="848984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การจัดทำรูปแบบการปฏิบัติฝ่ายตรงข้าม : จุดศูนย์ดุลย์ (COG) ระดับยุทธการ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17" name="Google Shape;717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18" name="Google Shape;71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0" name="Google Shape;720;p5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56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1" name="Google Shape;721;p56"/>
          <p:cNvSpPr/>
          <p:nvPr/>
        </p:nvSpPr>
        <p:spPr>
          <a:xfrm>
            <a:off x="5253487" y="1438934"/>
            <a:ext cx="1526876" cy="369332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กกล.ป้องกันเกาะ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2" name="Google Shape;722;p56"/>
          <p:cNvSpPr/>
          <p:nvPr/>
        </p:nvSpPr>
        <p:spPr>
          <a:xfrm>
            <a:off x="465825" y="2215824"/>
            <a:ext cx="1293964" cy="369332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C2 กกล.ป้องกัน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3" name="Google Shape;723;p56"/>
          <p:cNvSpPr/>
          <p:nvPr/>
        </p:nvSpPr>
        <p:spPr>
          <a:xfrm>
            <a:off x="2214113" y="2215824"/>
            <a:ext cx="1230703" cy="369332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Intel รอบพื้นที่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4" name="Google Shape;724;p56"/>
          <p:cNvSpPr/>
          <p:nvPr/>
        </p:nvSpPr>
        <p:spPr>
          <a:xfrm>
            <a:off x="3835879" y="2215824"/>
            <a:ext cx="1296838" cy="369332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การโจมตี/ลิดรอน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5" name="Google Shape;725;p56"/>
          <p:cNvSpPr/>
          <p:nvPr/>
        </p:nvSpPr>
        <p:spPr>
          <a:xfrm>
            <a:off x="5523780" y="2218170"/>
            <a:ext cx="1296838" cy="611293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การป้องกันเป็น 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Layer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6" name="Google Shape;726;p56"/>
          <p:cNvSpPr/>
          <p:nvPr/>
        </p:nvSpPr>
        <p:spPr>
          <a:xfrm>
            <a:off x="8539936" y="2289926"/>
            <a:ext cx="1296838" cy="392292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การเพิ่มเติม กกล.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7" name="Google Shape;727;p56"/>
          <p:cNvSpPr/>
          <p:nvPr/>
        </p:nvSpPr>
        <p:spPr>
          <a:xfrm>
            <a:off x="10629682" y="2215824"/>
            <a:ext cx="1296838" cy="369332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การส่งกำลังบำรุง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28" name="Google Shape;728;p56"/>
          <p:cNvSpPr/>
          <p:nvPr/>
        </p:nvSpPr>
        <p:spPr>
          <a:xfrm>
            <a:off x="247289" y="3231925"/>
            <a:ext cx="762002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HQ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731806" y="3738775"/>
            <a:ext cx="762002" cy="534070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Comms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Sys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1378788" y="3119225"/>
            <a:ext cx="762002" cy="534070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Joint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CMD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1" name="Google Shape;731;p56"/>
          <p:cNvSpPr/>
          <p:nvPr/>
        </p:nvSpPr>
        <p:spPr>
          <a:xfrm>
            <a:off x="2441275" y="3130646"/>
            <a:ext cx="831014" cy="534070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Maritime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ISR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3629566" y="3321718"/>
            <a:ext cx="714554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AShM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2915012" y="3884919"/>
            <a:ext cx="714554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Bomb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4" name="Google Shape;734;p56"/>
          <p:cNvSpPr/>
          <p:nvPr/>
        </p:nvSpPr>
        <p:spPr>
          <a:xfrm>
            <a:off x="4028536" y="3884919"/>
            <a:ext cx="813039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Torpedo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5" name="Google Shape;735;p56"/>
          <p:cNvSpPr/>
          <p:nvPr/>
        </p:nvSpPr>
        <p:spPr>
          <a:xfrm>
            <a:off x="4701397" y="3321718"/>
            <a:ext cx="813039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AAW sys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36" name="Google Shape;736;p56"/>
          <p:cNvCxnSpPr>
            <a:stCxn id="722" idx="0"/>
            <a:endCxn id="721" idx="1"/>
          </p:cNvCxnSpPr>
          <p:nvPr/>
        </p:nvCxnSpPr>
        <p:spPr>
          <a:xfrm rot="10800000" flipH="1">
            <a:off x="1112807" y="1623624"/>
            <a:ext cx="4140600" cy="59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7" name="Google Shape;737;p56"/>
          <p:cNvCxnSpPr>
            <a:stCxn id="723" idx="0"/>
          </p:cNvCxnSpPr>
          <p:nvPr/>
        </p:nvCxnSpPr>
        <p:spPr>
          <a:xfrm rot="10800000" flipH="1">
            <a:off x="2829465" y="1752924"/>
            <a:ext cx="2424000" cy="46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8" name="Google Shape;738;p56"/>
          <p:cNvCxnSpPr/>
          <p:nvPr/>
        </p:nvCxnSpPr>
        <p:spPr>
          <a:xfrm rot="10800000" flipH="1">
            <a:off x="4396596" y="1829691"/>
            <a:ext cx="1314091" cy="3746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9" name="Google Shape;739;p56"/>
          <p:cNvCxnSpPr>
            <a:stCxn id="725" idx="0"/>
            <a:endCxn id="721" idx="2"/>
          </p:cNvCxnSpPr>
          <p:nvPr/>
        </p:nvCxnSpPr>
        <p:spPr>
          <a:xfrm rot="10800000">
            <a:off x="6016799" y="1808370"/>
            <a:ext cx="155400" cy="40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0" name="Google Shape;740;p56"/>
          <p:cNvCxnSpPr>
            <a:stCxn id="726" idx="0"/>
            <a:endCxn id="721" idx="3"/>
          </p:cNvCxnSpPr>
          <p:nvPr/>
        </p:nvCxnSpPr>
        <p:spPr>
          <a:xfrm rot="10800000">
            <a:off x="6780255" y="1623626"/>
            <a:ext cx="2408100" cy="66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1" name="Google Shape;741;p56"/>
          <p:cNvCxnSpPr>
            <a:stCxn id="727" idx="0"/>
          </p:cNvCxnSpPr>
          <p:nvPr/>
        </p:nvCxnSpPr>
        <p:spPr>
          <a:xfrm rot="10800000">
            <a:off x="6780501" y="1636224"/>
            <a:ext cx="4497600" cy="57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2" name="Google Shape;742;p56"/>
          <p:cNvCxnSpPr>
            <a:stCxn id="728" idx="0"/>
          </p:cNvCxnSpPr>
          <p:nvPr/>
        </p:nvCxnSpPr>
        <p:spPr>
          <a:xfrm rot="10800000" flipH="1">
            <a:off x="628290" y="2608225"/>
            <a:ext cx="174000" cy="62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3" name="Google Shape;743;p56"/>
          <p:cNvCxnSpPr>
            <a:stCxn id="729" idx="0"/>
          </p:cNvCxnSpPr>
          <p:nvPr/>
        </p:nvCxnSpPr>
        <p:spPr>
          <a:xfrm rot="10800000" flipH="1">
            <a:off x="1112807" y="2608075"/>
            <a:ext cx="58800" cy="113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4" name="Google Shape;744;p56"/>
          <p:cNvCxnSpPr>
            <a:stCxn id="730" idx="0"/>
          </p:cNvCxnSpPr>
          <p:nvPr/>
        </p:nvCxnSpPr>
        <p:spPr>
          <a:xfrm rot="10800000">
            <a:off x="1368589" y="2596625"/>
            <a:ext cx="391200" cy="52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5" name="Google Shape;745;p56"/>
          <p:cNvCxnSpPr>
            <a:stCxn id="731" idx="0"/>
          </p:cNvCxnSpPr>
          <p:nvPr/>
        </p:nvCxnSpPr>
        <p:spPr>
          <a:xfrm rot="10800000" flipH="1">
            <a:off x="2856782" y="2563346"/>
            <a:ext cx="22200" cy="56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6" name="Google Shape;746;p56"/>
          <p:cNvCxnSpPr>
            <a:stCxn id="733" idx="0"/>
          </p:cNvCxnSpPr>
          <p:nvPr/>
        </p:nvCxnSpPr>
        <p:spPr>
          <a:xfrm rot="10800000" flipH="1">
            <a:off x="3272289" y="2582019"/>
            <a:ext cx="810300" cy="130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7" name="Google Shape;747;p56"/>
          <p:cNvCxnSpPr>
            <a:stCxn id="732" idx="0"/>
          </p:cNvCxnSpPr>
          <p:nvPr/>
        </p:nvCxnSpPr>
        <p:spPr>
          <a:xfrm rot="10800000" flipH="1">
            <a:off x="3986843" y="2563318"/>
            <a:ext cx="288900" cy="75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8" name="Google Shape;748;p56"/>
          <p:cNvCxnSpPr>
            <a:stCxn id="734" idx="0"/>
          </p:cNvCxnSpPr>
          <p:nvPr/>
        </p:nvCxnSpPr>
        <p:spPr>
          <a:xfrm rot="10800000" flipH="1">
            <a:off x="4435056" y="2561019"/>
            <a:ext cx="62100" cy="13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9" name="Google Shape;749;p56"/>
          <p:cNvCxnSpPr>
            <a:stCxn id="735" idx="0"/>
          </p:cNvCxnSpPr>
          <p:nvPr/>
        </p:nvCxnSpPr>
        <p:spPr>
          <a:xfrm rot="10800000">
            <a:off x="4701417" y="2608318"/>
            <a:ext cx="406500" cy="71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0" name="Google Shape;750;p56"/>
          <p:cNvSpPr/>
          <p:nvPr/>
        </p:nvSpPr>
        <p:spPr>
          <a:xfrm>
            <a:off x="7737894" y="3945812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Aircraft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1" name="Google Shape;751;p56"/>
          <p:cNvSpPr/>
          <p:nvPr/>
        </p:nvSpPr>
        <p:spPr>
          <a:xfrm>
            <a:off x="6218200" y="4511408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Surf Flt.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2" name="Google Shape;752;p56"/>
          <p:cNvSpPr/>
          <p:nvPr/>
        </p:nvSpPr>
        <p:spPr>
          <a:xfrm>
            <a:off x="5592457" y="3944846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SUB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3" name="Google Shape;753;p56"/>
          <p:cNvSpPr/>
          <p:nvPr/>
        </p:nvSpPr>
        <p:spPr>
          <a:xfrm>
            <a:off x="6779770" y="3944846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Mine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4" name="Google Shape;754;p56"/>
          <p:cNvSpPr/>
          <p:nvPr/>
        </p:nvSpPr>
        <p:spPr>
          <a:xfrm>
            <a:off x="4865403" y="4485941"/>
            <a:ext cx="1086928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Land Forces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55" name="Google Shape;755;p56"/>
          <p:cNvCxnSpPr/>
          <p:nvPr/>
        </p:nvCxnSpPr>
        <p:spPr>
          <a:xfrm rot="10800000" flipH="1">
            <a:off x="5443182" y="2841203"/>
            <a:ext cx="357456" cy="16815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6" name="Google Shape;756;p56"/>
          <p:cNvCxnSpPr>
            <a:stCxn id="752" idx="0"/>
          </p:cNvCxnSpPr>
          <p:nvPr/>
        </p:nvCxnSpPr>
        <p:spPr>
          <a:xfrm rot="10800000" flipH="1">
            <a:off x="6003831" y="2845646"/>
            <a:ext cx="69300" cy="109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7" name="Google Shape;757;p56"/>
          <p:cNvCxnSpPr>
            <a:stCxn id="751" idx="0"/>
          </p:cNvCxnSpPr>
          <p:nvPr/>
        </p:nvCxnSpPr>
        <p:spPr>
          <a:xfrm rot="10800000">
            <a:off x="6303174" y="2854808"/>
            <a:ext cx="326400" cy="165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8" name="Google Shape;758;p56"/>
          <p:cNvCxnSpPr/>
          <p:nvPr/>
        </p:nvCxnSpPr>
        <p:spPr>
          <a:xfrm rot="10800000">
            <a:off x="6697957" y="2854949"/>
            <a:ext cx="478769" cy="10107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9" name="Google Shape;759;p56"/>
          <p:cNvCxnSpPr>
            <a:stCxn id="750" idx="0"/>
          </p:cNvCxnSpPr>
          <p:nvPr/>
        </p:nvCxnSpPr>
        <p:spPr>
          <a:xfrm rot="10800000">
            <a:off x="6802268" y="2792312"/>
            <a:ext cx="1347000" cy="11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0" name="Google Shape;760;p56"/>
          <p:cNvSpPr/>
          <p:nvPr/>
        </p:nvSpPr>
        <p:spPr>
          <a:xfrm>
            <a:off x="8286168" y="3313287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Sea Lift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61" name="Google Shape;761;p56"/>
          <p:cNvSpPr/>
          <p:nvPr/>
        </p:nvSpPr>
        <p:spPr>
          <a:xfrm>
            <a:off x="9300384" y="3326227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Air Lift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62" name="Google Shape;762;p56"/>
          <p:cNvSpPr/>
          <p:nvPr/>
        </p:nvSpPr>
        <p:spPr>
          <a:xfrm>
            <a:off x="9339351" y="4597505"/>
            <a:ext cx="822747" cy="554520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Airport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/Airfield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63" name="Google Shape;763;p56"/>
          <p:cNvSpPr/>
          <p:nvPr/>
        </p:nvSpPr>
        <p:spPr>
          <a:xfrm>
            <a:off x="10284589" y="3989844"/>
            <a:ext cx="822747" cy="369332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Harbour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764" name="Google Shape;764;p56"/>
          <p:cNvSpPr/>
          <p:nvPr/>
        </p:nvSpPr>
        <p:spPr>
          <a:xfrm>
            <a:off x="11278101" y="3811494"/>
            <a:ext cx="822747" cy="517856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Open Space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65" name="Google Shape;765;p56"/>
          <p:cNvCxnSpPr>
            <a:stCxn id="761" idx="0"/>
          </p:cNvCxnSpPr>
          <p:nvPr/>
        </p:nvCxnSpPr>
        <p:spPr>
          <a:xfrm rot="10800000">
            <a:off x="9480758" y="2682127"/>
            <a:ext cx="231000" cy="6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6" name="Google Shape;766;p56"/>
          <p:cNvCxnSpPr>
            <a:stCxn id="726" idx="2"/>
            <a:endCxn id="760" idx="0"/>
          </p:cNvCxnSpPr>
          <p:nvPr/>
        </p:nvCxnSpPr>
        <p:spPr>
          <a:xfrm flipH="1">
            <a:off x="8697555" y="2682218"/>
            <a:ext cx="490800" cy="63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7" name="Google Shape;767;p56"/>
          <p:cNvCxnSpPr>
            <a:stCxn id="762" idx="0"/>
          </p:cNvCxnSpPr>
          <p:nvPr/>
        </p:nvCxnSpPr>
        <p:spPr>
          <a:xfrm rot="10800000" flipH="1">
            <a:off x="9750725" y="2596505"/>
            <a:ext cx="1285200" cy="200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8" name="Google Shape;768;p56"/>
          <p:cNvCxnSpPr>
            <a:stCxn id="763" idx="0"/>
          </p:cNvCxnSpPr>
          <p:nvPr/>
        </p:nvCxnSpPr>
        <p:spPr>
          <a:xfrm rot="10800000" flipH="1">
            <a:off x="10695963" y="2585244"/>
            <a:ext cx="590700" cy="140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9" name="Google Shape;769;p56"/>
          <p:cNvCxnSpPr>
            <a:stCxn id="764" idx="0"/>
          </p:cNvCxnSpPr>
          <p:nvPr/>
        </p:nvCxnSpPr>
        <p:spPr>
          <a:xfrm rot="10800000">
            <a:off x="11494775" y="2580894"/>
            <a:ext cx="194700" cy="123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0" name="Google Shape;770;p56"/>
          <p:cNvCxnSpPr>
            <a:stCxn id="762" idx="1"/>
          </p:cNvCxnSpPr>
          <p:nvPr/>
        </p:nvCxnSpPr>
        <p:spPr>
          <a:xfrm rot="10800000">
            <a:off x="8465751" y="4300865"/>
            <a:ext cx="873600" cy="57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1" name="Google Shape;771;p56"/>
          <p:cNvSpPr/>
          <p:nvPr/>
        </p:nvSpPr>
        <p:spPr>
          <a:xfrm>
            <a:off x="109764" y="4831003"/>
            <a:ext cx="865022" cy="67507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HQ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Falkland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72" name="Google Shape;772;p56"/>
          <p:cNvSpPr/>
          <p:nvPr/>
        </p:nvSpPr>
        <p:spPr>
          <a:xfrm>
            <a:off x="802257" y="5592709"/>
            <a:ext cx="865022" cy="67507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Comms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Station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73" name="Google Shape;773;p56"/>
          <p:cNvSpPr/>
          <p:nvPr/>
        </p:nvSpPr>
        <p:spPr>
          <a:xfrm>
            <a:off x="1708279" y="4874765"/>
            <a:ext cx="865022" cy="67507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Radar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Sites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74" name="Google Shape;774;p56"/>
          <p:cNvCxnSpPr/>
          <p:nvPr/>
        </p:nvCxnSpPr>
        <p:spPr>
          <a:xfrm rot="10800000" flipH="1">
            <a:off x="405888" y="3601085"/>
            <a:ext cx="83301" cy="12184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5" name="Google Shape;775;p56"/>
          <p:cNvCxnSpPr>
            <a:stCxn id="772" idx="0"/>
          </p:cNvCxnSpPr>
          <p:nvPr/>
        </p:nvCxnSpPr>
        <p:spPr>
          <a:xfrm rot="10800000">
            <a:off x="1220068" y="4287709"/>
            <a:ext cx="14700" cy="130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6" name="Google Shape;776;p56"/>
          <p:cNvCxnSpPr>
            <a:stCxn id="773" idx="1"/>
          </p:cNvCxnSpPr>
          <p:nvPr/>
        </p:nvCxnSpPr>
        <p:spPr>
          <a:xfrm rot="10800000">
            <a:off x="1338379" y="4250801"/>
            <a:ext cx="369900" cy="96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7" name="Google Shape;777;p56"/>
          <p:cNvCxnSpPr>
            <a:stCxn id="773" idx="0"/>
          </p:cNvCxnSpPr>
          <p:nvPr/>
        </p:nvCxnSpPr>
        <p:spPr>
          <a:xfrm rot="10800000">
            <a:off x="1689890" y="3624665"/>
            <a:ext cx="450900" cy="125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8" name="Google Shape;778;p56"/>
          <p:cNvCxnSpPr/>
          <p:nvPr/>
        </p:nvCxnSpPr>
        <p:spPr>
          <a:xfrm rot="10800000" flipH="1">
            <a:off x="1383179" y="3664716"/>
            <a:ext cx="252736" cy="192799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9" name="Google Shape;779;p56"/>
          <p:cNvCxnSpPr>
            <a:stCxn id="773" idx="0"/>
          </p:cNvCxnSpPr>
          <p:nvPr/>
        </p:nvCxnSpPr>
        <p:spPr>
          <a:xfrm rot="10800000" flipH="1">
            <a:off x="2140790" y="3653165"/>
            <a:ext cx="536700" cy="122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0" name="Google Shape;780;p56"/>
          <p:cNvSpPr/>
          <p:nvPr/>
        </p:nvSpPr>
        <p:spPr>
          <a:xfrm>
            <a:off x="2646453" y="4897016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Aircraft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81" name="Google Shape;781;p56"/>
          <p:cNvCxnSpPr>
            <a:stCxn id="780" idx="0"/>
            <a:endCxn id="733" idx="2"/>
          </p:cNvCxnSpPr>
          <p:nvPr/>
        </p:nvCxnSpPr>
        <p:spPr>
          <a:xfrm rot="10800000" flipH="1">
            <a:off x="3078964" y="4254116"/>
            <a:ext cx="193200" cy="64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2" name="Google Shape;782;p56"/>
          <p:cNvSpPr/>
          <p:nvPr/>
        </p:nvSpPr>
        <p:spPr>
          <a:xfrm>
            <a:off x="3046812" y="5481036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Carrier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83" name="Google Shape;783;p56"/>
          <p:cNvCxnSpPr/>
          <p:nvPr/>
        </p:nvCxnSpPr>
        <p:spPr>
          <a:xfrm rot="10800000">
            <a:off x="3443054" y="4272711"/>
            <a:ext cx="186512" cy="119753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4" name="Google Shape;784;p56"/>
          <p:cNvSpPr/>
          <p:nvPr/>
        </p:nvSpPr>
        <p:spPr>
          <a:xfrm>
            <a:off x="3746993" y="4926755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DD/CVT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85" name="Google Shape;785;p56"/>
          <p:cNvCxnSpPr/>
          <p:nvPr/>
        </p:nvCxnSpPr>
        <p:spPr>
          <a:xfrm rot="10800000" flipH="1">
            <a:off x="3390925" y="3682619"/>
            <a:ext cx="531924" cy="121439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6" name="Google Shape;786;p56"/>
          <p:cNvCxnSpPr/>
          <p:nvPr/>
        </p:nvCxnSpPr>
        <p:spPr>
          <a:xfrm rot="10800000" flipH="1">
            <a:off x="3988659" y="3697682"/>
            <a:ext cx="8948" cy="118853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7" name="Google Shape;787;p56"/>
          <p:cNvCxnSpPr/>
          <p:nvPr/>
        </p:nvCxnSpPr>
        <p:spPr>
          <a:xfrm rot="10800000">
            <a:off x="2848645" y="3675546"/>
            <a:ext cx="19280" cy="122147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8" name="Google Shape;788;p56"/>
          <p:cNvSpPr/>
          <p:nvPr/>
        </p:nvSpPr>
        <p:spPr>
          <a:xfrm>
            <a:off x="3479323" y="5964642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SUB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89" name="Google Shape;789;p56"/>
          <p:cNvSpPr/>
          <p:nvPr/>
        </p:nvSpPr>
        <p:spPr>
          <a:xfrm>
            <a:off x="2120661" y="5953989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Sur Flt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90" name="Google Shape;790;p56"/>
          <p:cNvCxnSpPr>
            <a:stCxn id="789" idx="0"/>
          </p:cNvCxnSpPr>
          <p:nvPr/>
        </p:nvCxnSpPr>
        <p:spPr>
          <a:xfrm rot="10800000" flipH="1">
            <a:off x="2553172" y="3670089"/>
            <a:ext cx="180300" cy="228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1" name="Google Shape;791;p56"/>
          <p:cNvCxnSpPr>
            <a:stCxn id="788" idx="1"/>
          </p:cNvCxnSpPr>
          <p:nvPr/>
        </p:nvCxnSpPr>
        <p:spPr>
          <a:xfrm rot="10800000">
            <a:off x="2605423" y="5592793"/>
            <a:ext cx="873900" cy="58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2" name="Google Shape;792;p56"/>
          <p:cNvCxnSpPr>
            <a:endCxn id="732" idx="2"/>
          </p:cNvCxnSpPr>
          <p:nvPr/>
        </p:nvCxnSpPr>
        <p:spPr>
          <a:xfrm rot="10800000" flipH="1">
            <a:off x="3607043" y="3691050"/>
            <a:ext cx="379800" cy="175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3" name="Google Shape;793;p56"/>
          <p:cNvCxnSpPr>
            <a:stCxn id="752" idx="1"/>
            <a:endCxn id="734" idx="3"/>
          </p:cNvCxnSpPr>
          <p:nvPr/>
        </p:nvCxnSpPr>
        <p:spPr>
          <a:xfrm rot="10800000">
            <a:off x="4841557" y="4069512"/>
            <a:ext cx="750900" cy="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4" name="Google Shape;794;p56"/>
          <p:cNvCxnSpPr/>
          <p:nvPr/>
        </p:nvCxnSpPr>
        <p:spPr>
          <a:xfrm rot="10800000" flipH="1">
            <a:off x="4470189" y="3747229"/>
            <a:ext cx="676708" cy="121176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5" name="Google Shape;795;p56"/>
          <p:cNvCxnSpPr/>
          <p:nvPr/>
        </p:nvCxnSpPr>
        <p:spPr>
          <a:xfrm rot="10800000" flipH="1">
            <a:off x="3223856" y="4405077"/>
            <a:ext cx="1545854" cy="4624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6" name="Google Shape;796;p56"/>
          <p:cNvSpPr/>
          <p:nvPr/>
        </p:nvSpPr>
        <p:spPr>
          <a:xfrm>
            <a:off x="4451419" y="5486457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Carrier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97" name="Google Shape;797;p56"/>
          <p:cNvCxnSpPr>
            <a:stCxn id="796" idx="0"/>
          </p:cNvCxnSpPr>
          <p:nvPr/>
        </p:nvCxnSpPr>
        <p:spPr>
          <a:xfrm rot="10800000">
            <a:off x="4765430" y="4438857"/>
            <a:ext cx="118500" cy="104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8" name="Google Shape;798;p56"/>
          <p:cNvCxnSpPr/>
          <p:nvPr/>
        </p:nvCxnSpPr>
        <p:spPr>
          <a:xfrm rot="10800000">
            <a:off x="8127636" y="4318427"/>
            <a:ext cx="114298" cy="8069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9" name="Google Shape;799;p56"/>
          <p:cNvSpPr/>
          <p:nvPr/>
        </p:nvSpPr>
        <p:spPr>
          <a:xfrm>
            <a:off x="7821160" y="5124234"/>
            <a:ext cx="865022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Carrier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00" name="Google Shape;800;p56"/>
          <p:cNvCxnSpPr>
            <a:endCxn id="751" idx="3"/>
          </p:cNvCxnSpPr>
          <p:nvPr/>
        </p:nvCxnSpPr>
        <p:spPr>
          <a:xfrm rot="10800000">
            <a:off x="7040947" y="4696074"/>
            <a:ext cx="981900" cy="42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1" name="Google Shape;801;p56"/>
          <p:cNvCxnSpPr/>
          <p:nvPr/>
        </p:nvCxnSpPr>
        <p:spPr>
          <a:xfrm flipH="1">
            <a:off x="4633452" y="4845107"/>
            <a:ext cx="1584748" cy="3145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2" name="Google Shape;802;p56"/>
          <p:cNvSpPr/>
          <p:nvPr/>
        </p:nvSpPr>
        <p:spPr>
          <a:xfrm>
            <a:off x="6811664" y="5293004"/>
            <a:ext cx="865022" cy="593563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Mine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Layer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03" name="Google Shape;803;p56"/>
          <p:cNvCxnSpPr>
            <a:stCxn id="802" idx="0"/>
          </p:cNvCxnSpPr>
          <p:nvPr/>
        </p:nvCxnSpPr>
        <p:spPr>
          <a:xfrm rot="10800000">
            <a:off x="7220475" y="4330304"/>
            <a:ext cx="23700" cy="96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4" name="Google Shape;804;p56"/>
          <p:cNvSpPr/>
          <p:nvPr/>
        </p:nvSpPr>
        <p:spPr>
          <a:xfrm>
            <a:off x="8136047" y="5744438"/>
            <a:ext cx="688776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LST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05" name="Google Shape;805;p56"/>
          <p:cNvSpPr/>
          <p:nvPr/>
        </p:nvSpPr>
        <p:spPr>
          <a:xfrm>
            <a:off x="9029231" y="5757505"/>
            <a:ext cx="1093899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Merchant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06" name="Google Shape;806;p56"/>
          <p:cNvCxnSpPr/>
          <p:nvPr/>
        </p:nvCxnSpPr>
        <p:spPr>
          <a:xfrm rot="10800000" flipH="1">
            <a:off x="8709178" y="3675757"/>
            <a:ext cx="87055" cy="206868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7" name="Google Shape;807;p56"/>
          <p:cNvCxnSpPr/>
          <p:nvPr/>
        </p:nvCxnSpPr>
        <p:spPr>
          <a:xfrm rot="10800000">
            <a:off x="8931970" y="3671639"/>
            <a:ext cx="342456" cy="20727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8" name="Google Shape;808;p56"/>
          <p:cNvSpPr/>
          <p:nvPr/>
        </p:nvSpPr>
        <p:spPr>
          <a:xfrm>
            <a:off x="9152986" y="4075892"/>
            <a:ext cx="659720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C130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09" name="Google Shape;809;p56"/>
          <p:cNvCxnSpPr>
            <a:stCxn id="808" idx="0"/>
          </p:cNvCxnSpPr>
          <p:nvPr/>
        </p:nvCxnSpPr>
        <p:spPr>
          <a:xfrm rot="10800000" flipH="1">
            <a:off x="9482846" y="3695192"/>
            <a:ext cx="274800" cy="38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0" name="Google Shape;810;p56"/>
          <p:cNvCxnSpPr/>
          <p:nvPr/>
        </p:nvCxnSpPr>
        <p:spPr>
          <a:xfrm rot="10800000" flipH="1">
            <a:off x="8867045" y="2575481"/>
            <a:ext cx="1915035" cy="7188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1" name="Google Shape;811;p56"/>
          <p:cNvCxnSpPr>
            <a:stCxn id="761" idx="0"/>
          </p:cNvCxnSpPr>
          <p:nvPr/>
        </p:nvCxnSpPr>
        <p:spPr>
          <a:xfrm rot="10800000" flipH="1">
            <a:off x="9711758" y="2591227"/>
            <a:ext cx="1239900" cy="73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2" name="Google Shape;812;p56"/>
          <p:cNvSpPr/>
          <p:nvPr/>
        </p:nvSpPr>
        <p:spPr>
          <a:xfrm>
            <a:off x="10735541" y="5487902"/>
            <a:ext cx="732847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Bridge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13" name="Google Shape;813;p56"/>
          <p:cNvSpPr/>
          <p:nvPr/>
        </p:nvSpPr>
        <p:spPr>
          <a:xfrm>
            <a:off x="10215795" y="5983156"/>
            <a:ext cx="891541" cy="41910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Main Rd.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814" name="Google Shape;814;p56"/>
          <p:cNvCxnSpPr>
            <a:endCxn id="762" idx="2"/>
          </p:cNvCxnSpPr>
          <p:nvPr/>
        </p:nvCxnSpPr>
        <p:spPr>
          <a:xfrm rot="10800000">
            <a:off x="9750725" y="5152025"/>
            <a:ext cx="702900" cy="82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5" name="Google Shape;815;p56"/>
          <p:cNvCxnSpPr>
            <a:stCxn id="812" idx="1"/>
          </p:cNvCxnSpPr>
          <p:nvPr/>
        </p:nvCxnSpPr>
        <p:spPr>
          <a:xfrm rot="10800000">
            <a:off x="9936941" y="5157453"/>
            <a:ext cx="798600" cy="54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6" name="Google Shape;816;p56"/>
          <p:cNvCxnSpPr>
            <a:stCxn id="812" idx="0"/>
          </p:cNvCxnSpPr>
          <p:nvPr/>
        </p:nvCxnSpPr>
        <p:spPr>
          <a:xfrm rot="10800000">
            <a:off x="10648665" y="4363502"/>
            <a:ext cx="453300" cy="1124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7" name="Google Shape;817;p56"/>
          <p:cNvCxnSpPr/>
          <p:nvPr/>
        </p:nvCxnSpPr>
        <p:spPr>
          <a:xfrm rot="10800000" flipH="1">
            <a:off x="10534200" y="4360039"/>
            <a:ext cx="8355" cy="160286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7"/>
          <p:cNvSpPr/>
          <p:nvPr/>
        </p:nvSpPr>
        <p:spPr>
          <a:xfrm>
            <a:off x="2" y="848984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การจัดทำรูปแบบการปฏิบัติฝ่ายตรงข้าม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23" name="Google Shape;823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24" name="Google Shape;82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26" name="Google Shape;826;p5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57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27" name="Google Shape;827;p57"/>
          <p:cNvSpPr txBox="1"/>
          <p:nvPr/>
        </p:nvSpPr>
        <p:spPr>
          <a:xfrm>
            <a:off x="406734" y="1477050"/>
            <a:ext cx="526082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High Value Target : HVT</a:t>
            </a:r>
            <a:endParaRPr sz="2400" b="1" u="sng">
              <a:solidFill>
                <a:srgbClr val="FF0000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-Radar Sites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-Communications Station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-Mine Layer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-Submarines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-Land Forces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cxnSp>
        <p:nvCxnSpPr>
          <p:cNvPr id="828" name="Google Shape;828;p57"/>
          <p:cNvCxnSpPr/>
          <p:nvPr/>
        </p:nvCxnSpPr>
        <p:spPr>
          <a:xfrm>
            <a:off x="6096000" y="1457864"/>
            <a:ext cx="0" cy="464963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9" name="Google Shape;829;p57"/>
          <p:cNvSpPr txBox="1"/>
          <p:nvPr/>
        </p:nvSpPr>
        <p:spPr>
          <a:xfrm>
            <a:off x="6278447" y="1457864"/>
            <a:ext cx="526082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High Pay-Off Target : HPT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-Aircraft Carrier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-Destroyer (Missiles)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-Airfields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-Corvettes (Missiles)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30" name="Google Shape;830;p57"/>
          <p:cNvSpPr txBox="1"/>
          <p:nvPr/>
        </p:nvSpPr>
        <p:spPr>
          <a:xfrm>
            <a:off x="983411" y="4278702"/>
            <a:ext cx="3623108" cy="461665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ฝ่ายตรงข้ามจำเป็นต้องมีเพื่อบรรลุภารกิจ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31" name="Google Shape;831;p57"/>
          <p:cNvSpPr txBox="1"/>
          <p:nvPr/>
        </p:nvSpPr>
        <p:spPr>
          <a:xfrm>
            <a:off x="7346830" y="4250264"/>
            <a:ext cx="3485249" cy="461665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ลิดรอนได้จะเกื้อกูลการปฏิบัติต่อฝ่ายเรา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สรุปผลกระทบที่สำคัญ : ปัจจัยพื้นที่-เวลา-กำลัง (Time – Space - Force Factor)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37" name="Google Shape;837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38" name="Google Shape;83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5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40" name="Google Shape;840;p5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841" name="Google Shape;841;p58"/>
          <p:cNvGraphicFramePr/>
          <p:nvPr>
            <p:extLst>
              <p:ext uri="{D42A27DB-BD31-4B8C-83A1-F6EECF244321}">
                <p14:modId xmlns:p14="http://schemas.microsoft.com/office/powerpoint/2010/main" val="3323629935"/>
              </p:ext>
            </p:extLst>
          </p:nvPr>
        </p:nvGraphicFramePr>
        <p:xfrm>
          <a:off x="581802" y="1462372"/>
          <a:ext cx="11028400" cy="44196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0">
                <a:tc gridSpan="4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ปัจจัยกำลัง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กำลังทางบกของอาร์เจนตินา มีมากกว่ากำลังทางบกของอังกฤษ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-มีกำลังน้อยกว่า แต่มีกำลังพลได้รับการฝึกที่ดี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-มีกำลังมากกว่า แต่มีเพียง 3</a:t>
                      </a:r>
                      <a:r>
                        <a:rPr lang="th-TH" sz="2000" b="1" baseline="3000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rd</a:t>
                      </a: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Reg ที่ได้รับการฝึกที่ดี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ฝ่ายรับมีจำนวนมากกว่าต้องอาศัยการ Shaping เพื่อแยกกำลังตั้งรับเป็นส่วนๆ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กำลังทางเรือสหราชอาณาจักร มีจำนวนและขีดความสามารถมากกว่า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-มีความเหนือกว่าทั้งจำนวนและเทคโนโลยี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-จำนวนและเทคโนโลยีเสียเปรียบ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โดยกำลังทางเรือของอาร์เจนตินาต้องพยายามเลี่ยงการปะทะ และอาศัยการลิดรอนกำลังอ่อนแอ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กำลังทางอากาศ (เว้น ฮ.) ของอาร์เจนตินามีมากกว่า และ หลากหลาย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-ฝ่ายข้าศึกมีความได้เปรียบทางอากาศ โดยเฉพาะเมื่อต้องปฏิบัติการในพื้นที่อิทธิพข้าศึก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-ฝ่ายข้าศึกมีความได้เปรียบทางอากาศ โดยเฉพาะเมื่อต้องปฏิบัติการในพื้นที่อิทธิพข้าศึก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ข้าศึกอาจใช้กำลังทางอากาศเข้าโจมตีทางทะเล ควรมีการเตือนภัยล่วงหน้าและ ป้องกันทางลึตามแกนของภัยคุกคาม</a:t>
                      </a:r>
                      <a:endParaRPr sz="2000" b="1" u="sng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สรุปผลกระทบที่สำคัญ : ปัจจัยพื้นที่-เวลา-กำลัง (Time – Space - Force Factor)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47" name="Google Shape;847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48" name="Google Shape;84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50" name="Google Shape;850;p5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59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851" name="Google Shape;851;p59"/>
          <p:cNvGraphicFramePr/>
          <p:nvPr>
            <p:extLst>
              <p:ext uri="{D42A27DB-BD31-4B8C-83A1-F6EECF244321}">
                <p14:modId xmlns:p14="http://schemas.microsoft.com/office/powerpoint/2010/main" val="1082530415"/>
              </p:ext>
            </p:extLst>
          </p:nvPr>
        </p:nvGraphicFramePr>
        <p:xfrm>
          <a:off x="581802" y="1462372"/>
          <a:ext cx="11028400" cy="44196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0">
                <a:tc gridSpan="4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ปัจจัยเวลา-กำลัง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ผลกระทบจากฤดูกาลต่อกำลังรบในการปฏิบัติการโดยเฉพาะช่วงฤดูหนาว และ มรสุม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-ประสิทธิภาพโดนลดทอน จำกัดเสรีในการปฏิบัติการทางเรือและอากาศ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-ประสิทธิภาพโดนลดทอน จำกัดเสรีในการปฏิบัติการทางเรือและอากาศ แต่กำลังตั้งรับบนบกได้เปรียบ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ควรเร่งภารกิจให้บรรลุภายใน พ.ค. (ก่อนมรสุม)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ขวัญกำลังใจทหารอาร์เจนตินา และการรบยืดเยื้อ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-ฝ่ายข้าศึกไม่พร้อมในการรบ การปิดล้อม ตัดขาด กบ. จะส่งผลกระทบต่อจิตใจ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-ฝ่ายข้าศึกไม่พร้อมในการรบ การปิดล้อม ตัดขาด กบ. จะส่งผลกระทบต่อจิตใจ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การหน่วงเวลาจะลดมอนขวัญกำลังใจของข้าศึก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ระยะทางในการเคลื่อนกำลัง การ กบ. และ การคืนสภาพ แตกต่างกัน ๒๔ เท่า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-กำลังรบจะต้องเดินทางเป็นระยะทางกว่า ๗,๕๐๐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-กำลังรบจะต้องเดินทางเป็นระยะทาง ๓๐๐ ไมล์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 u="sng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การเคลื่อนกำลังของฝ่ายเราใช้เวลานาน ดังนั้นควรจัดกำลังที่สมบูรณ์ในตัวเอง เพียงพอที่จะบรรลุภารกิจได้ และมีวงรอบการ กบ. ที่เหมาะสม</a:t>
                      </a:r>
                      <a:endParaRPr sz="2000" b="1" u="sng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สรุปผลกระทบที่สำคัญ : ปัจจัยพื้นที่-เวลา-กำลัง (Time – Space - Force Factor)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57" name="Google Shape;857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58" name="Google Shape;85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6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60" name="Google Shape;860;p6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60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861" name="Google Shape;861;p60"/>
          <p:cNvGraphicFramePr/>
          <p:nvPr>
            <p:extLst>
              <p:ext uri="{D42A27DB-BD31-4B8C-83A1-F6EECF244321}">
                <p14:modId xmlns:p14="http://schemas.microsoft.com/office/powerpoint/2010/main" val="504217476"/>
              </p:ext>
            </p:extLst>
          </p:nvPr>
        </p:nvGraphicFramePr>
        <p:xfrm>
          <a:off x="581802" y="1462372"/>
          <a:ext cx="11028400" cy="41148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0">
                <a:tc gridSpan="4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ปัจจัยพื้นที่-กำลัง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พื้นที่ปฏิบัติการสามารถปฏิบัติการด้วยกำลังรบที่หลากหลาย ฝั่งตะวันตกเป็นพื้นที่อิทธิพลของกำลังข้าศึก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-มีกำลังทางเรือขนาดใหญ่ที่มีขีดความสามารถในการปฏิบัติการในทะเลเปิด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-กำลังทางเรือน้อย ต้องอาศัยความได้เปรียบจากพื้นที่อิทธิพล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การปฏิบัติการในพื้นที่อิทธิพลข้าศึกจะต้องเพิ่มการระวังป้องกัน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เกื้อกูลต่อฝ่ายเรา</a:t>
                      </a:r>
                      <a:r>
                        <a:rPr lang="th-TH" sz="2000" b="1" u="none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มีเสรีในการปฏิบัติการทางเรือที่หลากหลาย</a:t>
                      </a:r>
                      <a:endParaRPr sz="2000" b="1" u="sng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ภูมิประเทศบนเกาะฟอล์คแลนด์ที่เป็นภูเขาสลับที่ราบสูงและเนินเขาโล่ง ส่งผลต่อรูปแบบการใช้กำลัง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-การตรวจการณ์จากทะเลโดนบดบังด้วยภูมิประเทศ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-การเคลื่อนกำลังทางบกมีข้อจำกัด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-สามารถอาศัยความสูงเพิ่มระยะตรวจการณ์ และ ปกปิดการเคลื่อนกำลังได้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ข้าศึกอาจใช้ภูมิประเทศปกปิด ซ่อนพราง และ จู่โจม (Surprise) การปฏิบัติการใกล้ฝั่งจะต้องอาศัยการเตือนภัยล่วงหน้า และ ตอบโต้ภัยคุกคามที่รวดเร็ว</a:t>
                      </a:r>
                      <a:endParaRPr sz="2000" b="1" u="sng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สรุปผลกระทบที่สำคัญ : ปัจจัยพื้นที่-เวลา-กำลัง (Time – Space - Force Factor)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67" name="Google Shape;867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การประเมินค่าภัยคุกคาม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68" name="Google Shape;86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6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70" name="Google Shape;870;p6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61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871" name="Google Shape;871;p61"/>
          <p:cNvGraphicFramePr/>
          <p:nvPr>
            <p:extLst>
              <p:ext uri="{D42A27DB-BD31-4B8C-83A1-F6EECF244321}">
                <p14:modId xmlns:p14="http://schemas.microsoft.com/office/powerpoint/2010/main" val="1317275089"/>
              </p:ext>
            </p:extLst>
          </p:nvPr>
        </p:nvGraphicFramePr>
        <p:xfrm>
          <a:off x="581802" y="1462372"/>
          <a:ext cx="11028400" cy="271275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ข้อเท็จจริง</a:t>
                      </a:r>
                      <a:endParaRPr sz="20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ผลกระทบต่อฝ่ายเรา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ผลกระทบต่อข้าศึก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ข้อยุติ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0">
                <a:tc gridSpan="4"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ปัจจัยพื้นที่-เวลา-กำลัง</a:t>
                      </a:r>
                      <a:endParaRPr sz="20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Sarabun"/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การเดินทางระยะไกลและการถูกจำกัดช่วงเวลาที่เหมาะสมในการปฏิบัติการเพื่อบรรลุภารกิจ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-ฝ่ายเราต้องเดินทางระยะไกล และมีเวลาที่จำกัดจากสภาพอากาศรวมทั้งมีความเสียเปรียบเรื่องกำลังรบทางอากาศและทางบก แต่ได้เปรียบกำลังทางเรือ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มีระยะทางในการเคลื่อนกำลังเข้าพื้นที่สั้นกว่าแต่มีข้อจำกัดในการส่งกำลังบำรุงการฟื้นตัวของกำลังรบ กำลังบนเกาะฯ อาจะโดนโดดเดี่ยวกำลังได้ง่าย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1" u="sng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อุปสรรคต่อฝ่ายเรา</a:t>
                      </a:r>
                      <a:r>
                        <a:rPr lang="th-TH" sz="2000" b="1" u="none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 โดยฝ่ายเราจะต้องเตรียมกำลังรบที่สมบูรณ์และเพียงพอ และใช้กำลังที่หลากหลายของกำลังรบและเทคโนโลยีที่เหนือกว่า เพื่อพยายามเอาชนะข้าศึกให้ได้ก่อน มิ.ย. (มรสุม)</a:t>
                      </a:r>
                      <a:endParaRPr sz="2000" b="1" u="sng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2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Likely : Area Defense (รวมกำลังป้องกันพื้นที่)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77" name="Google Shape;877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78" name="Google Shape;878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80" name="Google Shape;880;p6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881" name="Google Shape;881;p62"/>
          <p:cNvPicPr preferRelativeResize="0"/>
          <p:nvPr/>
        </p:nvPicPr>
        <p:blipFill rotWithShape="1">
          <a:blip r:embed="rId4">
            <a:alphaModFix/>
          </a:blip>
          <a:srcRect l="33254" t="20028" r="17994" b="14339"/>
          <a:stretch/>
        </p:blipFill>
        <p:spPr>
          <a:xfrm>
            <a:off x="3027872" y="1527052"/>
            <a:ext cx="6349042" cy="4808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3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Likely : Area Defense (รวมกำลังป้องกันพื้นที่)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87" name="Google Shape;887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88" name="Google Shape;88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6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90" name="Google Shape;890;p6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891" name="Google Shape;891;p63"/>
          <p:cNvPicPr preferRelativeResize="0"/>
          <p:nvPr/>
        </p:nvPicPr>
        <p:blipFill rotWithShape="1">
          <a:blip r:embed="rId4">
            <a:alphaModFix/>
          </a:blip>
          <a:srcRect l="32972" t="20028" r="17853" b="14087"/>
          <a:stretch/>
        </p:blipFill>
        <p:spPr>
          <a:xfrm>
            <a:off x="483078" y="1520182"/>
            <a:ext cx="6374923" cy="4804361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63"/>
          <p:cNvSpPr txBox="1"/>
          <p:nvPr/>
        </p:nvSpPr>
        <p:spPr>
          <a:xfrm>
            <a:off x="6927011" y="1520182"/>
            <a:ext cx="505508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1 : SHAPING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-วางกำลังป้องกันพื้นที่รอบเกาะฟอล์คแลนด์ รัศมี ๕๐ ไมล์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-ใช้กำลังทางเรือร่วมกับอากาศนาวีประกอบกำลังเป็น ๓ หมวดเรือ วางกำลังในพื้นที่ตามกำหนด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-ค้นหากำลังทางเรือสหราชอาณาจักร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-สร้างภาพสถานการณ์ในพื้นที่สำคัญรอบเกาะฟอล์คแลนด์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4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Likely : Area Defense (รวมกำลังป้องกันพื้นที่)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898" name="Google Shape;898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99" name="Google Shape;899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6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01" name="Google Shape;901;p6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02" name="Google Shape;902;p64"/>
          <p:cNvSpPr txBox="1"/>
          <p:nvPr/>
        </p:nvSpPr>
        <p:spPr>
          <a:xfrm>
            <a:off x="6927011" y="1520182"/>
            <a:ext cx="5055080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2 : DEFENSE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-ป้องกันพื้นที่สำคัญในรัศมี ๕๐ ไมล์ รอบเกาะฟอล์คแลนด์ และใช้เรือดำน้ำ ค้นหาและลิดรอนเรือยกพลฯ ของสหราชอาณาจักร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-หมวดเรือทั้ง ๓ หมวด ใช้กำลังทางเรือร่วมกับอากาศยาน ค้นหา ลิดรอน เรือและอากาศยานสหราชอาณาจักรที่เข้ามาในพื้นที่ ๕๐ ไมล์รอบเกาะฟอล์คแลนด์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-เรือดำน้ำค้นหาและลิดรอนเรือยกพลฯ 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-ป้องกันพื้นที่รัศมี ๕๐ ไมล์ รอบเกาะฟอล์คแลนด์ และลิดรอนเรือยกพลฯ สหราชอาณาจักร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03" name="Google Shape;903;p64"/>
          <p:cNvPicPr preferRelativeResize="0"/>
          <p:nvPr/>
        </p:nvPicPr>
        <p:blipFill rotWithShape="1">
          <a:blip r:embed="rId4">
            <a:alphaModFix/>
          </a:blip>
          <a:srcRect l="33113" t="20028" r="17924" b="13836"/>
          <a:stretch/>
        </p:blipFill>
        <p:spPr>
          <a:xfrm>
            <a:off x="408316" y="1373533"/>
            <a:ext cx="6441057" cy="489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5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Likely : Area Defense (รวมกำลังป้องกันพื้นที่)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09" name="Google Shape;909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10" name="Google Shape;910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65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12" name="Google Shape;912;p65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65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13" name="Google Shape;913;p65"/>
          <p:cNvSpPr txBox="1"/>
          <p:nvPr/>
        </p:nvSpPr>
        <p:spPr>
          <a:xfrm>
            <a:off x="6927011" y="1520182"/>
            <a:ext cx="505508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2 : SUSTAIN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-ป้องกันพื้นที่สำคัญในรัศมี ๕๐ ไมล์ รอบเกาะฟอล์คแลนด์ และหน่วงเวลาให้ถึงช่วงมรสุม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-หมวดเรือทั้ง ๓ หมวด ใช้กำลังทางเรือร่วมกับอากาศยาน ค้นหา ลิดรอน เรือและอากาศยานสหราชอาณาจักรที่เข้ามาในพื้นที่ ๕๐ ไมล์รอบเกาะฟอล์คแลนด์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-เรือดำน้ำค้นหาและลิดรอนเรือส่ง กบ. 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-ป้องกันพื้นที่รัศมี ๕๐ ไมล์ รอบเกาะฟอล์คแลนด์ ลิดรอนเรือส่ง กบ. และ โจมตีเป้าหมายต่อเนื่องเพื่อหน่วงเวลา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14" name="Google Shape;914;p65"/>
          <p:cNvPicPr preferRelativeResize="0"/>
          <p:nvPr/>
        </p:nvPicPr>
        <p:blipFill rotWithShape="1">
          <a:blip r:embed="rId4">
            <a:alphaModFix/>
          </a:blip>
          <a:srcRect l="32972" t="20028" r="17853" b="14214"/>
          <a:stretch/>
        </p:blipFill>
        <p:spPr>
          <a:xfrm>
            <a:off x="284670" y="1417331"/>
            <a:ext cx="6505817" cy="4893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6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Likely : Area Defense (รวมกำลังป้องกันพื้นที่)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20" name="Google Shape;92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21" name="Google Shape;92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66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23" name="Google Shape;923;p66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66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24" name="Google Shape;924;p66"/>
          <p:cNvPicPr preferRelativeResize="0"/>
          <p:nvPr/>
        </p:nvPicPr>
        <p:blipFill rotWithShape="1">
          <a:blip r:embed="rId4">
            <a:alphaModFix/>
          </a:blip>
          <a:srcRect l="32830" t="29599" r="26698" b="19747"/>
          <a:stretch/>
        </p:blipFill>
        <p:spPr>
          <a:xfrm>
            <a:off x="2740576" y="1521004"/>
            <a:ext cx="6710847" cy="472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7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Dangerous : Isolated and Strike (แยกกำลังข้าศึกแล้วโจมตี)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30" name="Google Shape;93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31" name="Google Shape;93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67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33" name="Google Shape;933;p67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67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34" name="Google Shape;934;p67"/>
          <p:cNvPicPr preferRelativeResize="0"/>
          <p:nvPr/>
        </p:nvPicPr>
        <p:blipFill rotWithShape="1">
          <a:blip r:embed="rId4">
            <a:alphaModFix/>
          </a:blip>
          <a:srcRect l="32972" t="20027" r="17994" b="14591"/>
          <a:stretch/>
        </p:blipFill>
        <p:spPr>
          <a:xfrm>
            <a:off x="2441274" y="1454795"/>
            <a:ext cx="6603151" cy="4952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8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Dangerous : Isolated and Strike (แยกกำลังข้าศึกแล้วโจมตี)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40" name="Google Shape;940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41" name="Google Shape;941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68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43" name="Google Shape;943;p68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68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44" name="Google Shape;944;p68"/>
          <p:cNvSpPr txBox="1"/>
          <p:nvPr/>
        </p:nvSpPr>
        <p:spPr>
          <a:xfrm>
            <a:off x="6927011" y="1520182"/>
            <a:ext cx="505508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1 : SHAPING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๑ วางกำลังป้องกันพื้นที่สำคัญ ๕๐ ไมล์รอบเกาะฟอล์คแลนด์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๒ วางกำลังด้านตะวันออกในระยะที่อากาศยานสนับสนุนได้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๑ ป้องกันพื้นที่สำคัญ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๒ ค้นหากำลังทางเรือสหราชอาณาจักร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-วางกำลังและสร้างภาพสถานการณ์ในพื้นที่สำคัญรอบเกาะฟอล์คแลนด์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45" name="Google Shape;945;p68"/>
          <p:cNvPicPr preferRelativeResize="0"/>
          <p:nvPr/>
        </p:nvPicPr>
        <p:blipFill rotWithShape="1">
          <a:blip r:embed="rId4">
            <a:alphaModFix/>
          </a:blip>
          <a:srcRect l="33043" t="20027" r="17711" b="14591"/>
          <a:stretch/>
        </p:blipFill>
        <p:spPr>
          <a:xfrm>
            <a:off x="474453" y="1487008"/>
            <a:ext cx="6348734" cy="474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9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Dangerous : Isolated and Strike (แยกกำลังข้าศึกแล้วโจมตี)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51" name="Google Shape;951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52" name="Google Shape;952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69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54" name="Google Shape;954;p69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69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55" name="Google Shape;955;p69"/>
          <p:cNvSpPr txBox="1"/>
          <p:nvPr/>
        </p:nvSpPr>
        <p:spPr>
          <a:xfrm>
            <a:off x="6927011" y="1520182"/>
            <a:ext cx="505508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2 : DECEPTION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-ลวงกำลังทางเรือสหราชอาณาจักรเพื่อให้แยกกำลังเข้าสู่พื้นที่สังหาร และลิดรอนเรือยกพลฯ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๑ ป้องกันพื้นที่สำคัญ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-มว.เรือที่ ๒ โจมตีลวงให้ข้าศึกแยกกำลัง และ โจมตีร่วมกับอากาศยานต่อเป้าหมายสำคัญ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-แยกกำลังเรือยกพลฯ และลิดรอนเรือยกพลฯของ  สหราชอาณาจักร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56" name="Google Shape;956;p69"/>
          <p:cNvPicPr preferRelativeResize="0"/>
          <p:nvPr/>
        </p:nvPicPr>
        <p:blipFill rotWithShape="1">
          <a:blip r:embed="rId4">
            <a:alphaModFix/>
          </a:blip>
          <a:srcRect l="32972" t="20028" r="17853" b="14000"/>
          <a:stretch/>
        </p:blipFill>
        <p:spPr>
          <a:xfrm>
            <a:off x="439945" y="1478006"/>
            <a:ext cx="6351929" cy="4793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0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Dangerous : Isolated and Strike (แยกกำลังข้าศึกแล้วโจมตี)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62" name="Google Shape;962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63" name="Google Shape;96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0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65" name="Google Shape;965;p70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70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66" name="Google Shape;966;p70"/>
          <p:cNvSpPr txBox="1"/>
          <p:nvPr/>
        </p:nvSpPr>
        <p:spPr>
          <a:xfrm>
            <a:off x="6927011" y="1520182"/>
            <a:ext cx="505508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PHASE 3 : SUSTAIN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ความตั้งใจ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-รักษาความได้เปรียบทางการรบ หน่วงเวลาให้ถึงช่วงมรสุม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การปฏิบัติ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-ลิดรอนกำลังรบสหราชอาณาจักรด้วยเรือและอากาศยาน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-ค้นหาและลิดรอนเรือส่ง กบ. ด้วยเรือดำน้ำ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ความพยายามหลัก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-ลิดรอนเรือส่ง กบ. และ โจมตีเป้าหมายต่อเนื่องเพื่อหน่วงเวลา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67" name="Google Shape;967;p70"/>
          <p:cNvPicPr preferRelativeResize="0"/>
          <p:nvPr/>
        </p:nvPicPr>
        <p:blipFill rotWithShape="1">
          <a:blip r:embed="rId4">
            <a:alphaModFix/>
          </a:blip>
          <a:srcRect l="32972" t="20027" r="17853" b="14591"/>
          <a:stretch/>
        </p:blipFill>
        <p:spPr>
          <a:xfrm>
            <a:off x="209909" y="1487007"/>
            <a:ext cx="6420354" cy="480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1"/>
          <p:cNvSpPr/>
          <p:nvPr/>
        </p:nvSpPr>
        <p:spPr>
          <a:xfrm>
            <a:off x="0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ECOA Most Dangerous : Isolated and Strike (แยกกำลังข้าศึกแล้วโจมตี)</a:t>
            </a:r>
            <a:endParaRPr sz="1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73" name="Google Shape;973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74" name="Google Shape;974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71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76" name="Google Shape;976;p71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71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77" name="Google Shape;977;p71"/>
          <p:cNvPicPr preferRelativeResize="0"/>
          <p:nvPr/>
        </p:nvPicPr>
        <p:blipFill rotWithShape="1">
          <a:blip r:embed="rId4">
            <a:alphaModFix/>
          </a:blip>
          <a:srcRect l="32900" t="29057" r="26911" b="16101"/>
          <a:stretch/>
        </p:blipFill>
        <p:spPr>
          <a:xfrm>
            <a:off x="2904226" y="1505310"/>
            <a:ext cx="6383547" cy="4900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2"/>
          <p:cNvSpPr/>
          <p:nvPr/>
        </p:nvSpPr>
        <p:spPr>
          <a:xfrm>
            <a:off x="-1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พัฒนาตัวบ่งชี้ของหนทางปฏิบัติฝ่ายตรงข้าม</a:t>
            </a: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 sz="2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83" name="Google Shape;983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84" name="Google Shape;98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2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86" name="Google Shape;986;p72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72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87" name="Google Shape;98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5727" y="1474147"/>
            <a:ext cx="6853781" cy="477137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3"/>
          <p:cNvSpPr/>
          <p:nvPr/>
        </p:nvSpPr>
        <p:spPr>
          <a:xfrm>
            <a:off x="-1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พัฒนาตัวบ่งชี้ของหนทางปฏิบัติฝ่ายตรงข้าม : Event Matrix</a:t>
            </a: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 sz="2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93" name="Google Shape;993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94" name="Google Shape;99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3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996" name="Google Shape;996;p73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73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pic>
        <p:nvPicPr>
          <p:cNvPr id="997" name="Google Shape;997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1373532"/>
            <a:ext cx="3706202" cy="25801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998" name="Google Shape;998;p73"/>
          <p:cNvGraphicFramePr/>
          <p:nvPr>
            <p:extLst>
              <p:ext uri="{D42A27DB-BD31-4B8C-83A1-F6EECF244321}">
                <p14:modId xmlns:p14="http://schemas.microsoft.com/office/powerpoint/2010/main" val="1920144302"/>
              </p:ext>
            </p:extLst>
          </p:nvPr>
        </p:nvGraphicFramePr>
        <p:xfrm>
          <a:off x="3706206" y="1366482"/>
          <a:ext cx="8485800" cy="512068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หมายเลข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ตำบลที่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ไม่เร็วกว่า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ไม่ช้ากว่า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สิ่งบอกเหตุ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เครื่องมือ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NAI 1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พื้นที่ ๕๐ ไมล์ รอบเกาะฟอล์คแลนด์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+ 15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+ 17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การวางกำลังของข้าศึก (ECOA1,2)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-บ./ฮ.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-ด.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-SAT 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-EW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NAI 2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ด้านทิศตะวันออกระยะ ๑๐๐ – ๕๐๐ ไมล์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+ 10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+ 15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การวางกำลังของข้าศึก (ECOA 2)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-บ./ฮ.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-ด.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-SAT 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-EW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NAI 3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ด้านเหนือของฟอล์คแลนด์ระยะ ๑๐๐ ไมล์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+ 15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D + 17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การวางกำลังของข้าศึก (ECOA 1)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-บ./ฮ.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-ด.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-SAT </a:t>
                      </a:r>
                      <a:endParaRPr sz="24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-EW</a:t>
                      </a:r>
                      <a:endParaRPr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9" name="Google Shape;999;p73"/>
          <p:cNvSpPr txBox="1"/>
          <p:nvPr/>
        </p:nvSpPr>
        <p:spPr>
          <a:xfrm>
            <a:off x="426803" y="3863787"/>
            <a:ext cx="3110027" cy="461665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D-DAY คือ วันที่ ๕ เม.ย.๑๙๘๒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00" name="Google Shape;1000;p73"/>
          <p:cNvPicPr preferRelativeResize="0"/>
          <p:nvPr/>
        </p:nvPicPr>
        <p:blipFill rotWithShape="1">
          <a:blip r:embed="rId5">
            <a:alphaModFix/>
          </a:blip>
          <a:srcRect l="20377" t="21107" r="42901" b="39245"/>
          <a:stretch/>
        </p:blipFill>
        <p:spPr>
          <a:xfrm>
            <a:off x="1" y="4235570"/>
            <a:ext cx="3707388" cy="225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4"/>
          <p:cNvSpPr/>
          <p:nvPr/>
        </p:nvSpPr>
        <p:spPr>
          <a:xfrm>
            <a:off x="-1" y="855677"/>
            <a:ext cx="12191998" cy="517856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r>
              <a:rPr lang="th-TH" sz="28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ทบทวนหัวข้อข่าวสารที่ต้องการและจัดทำแผนรวบรวมข่าวสาร</a:t>
            </a:r>
            <a:r>
              <a:rPr lang="th-TH" sz="2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	</a:t>
            </a:r>
            <a:endParaRPr sz="28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006" name="Google Shape;1006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5567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b="1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การกำหนดหนทางการปฏิบัติของฝ่ายตรงข้าม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07" name="Google Shape;1007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963" y="81061"/>
            <a:ext cx="1370166" cy="121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4"/>
          <p:cNvSpPr txBox="1"/>
          <p:nvPr/>
        </p:nvSpPr>
        <p:spPr>
          <a:xfrm>
            <a:off x="-1" y="6488668"/>
            <a:ext cx="12191999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การเตรียมสภาพแวดล้อมทางยุทธการด้านการข่าวกรองร่วม (JIPOE) กลุ่มสัมมนาที่ ๔ หลักสูตรเสนาธิการทหารเรือรุ่นที่ ๘๓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009" name="Google Shape;1009;p74"/>
          <p:cNvSpPr txBox="1"/>
          <p:nvPr/>
        </p:nvSpPr>
        <p:spPr>
          <a:xfrm>
            <a:off x="11920770" y="6488668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b="1">
                <a:solidFill>
                  <a:schemeClr val="lt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74</a:t>
            </a:r>
            <a:endParaRPr sz="1800" b="1">
              <a:solidFill>
                <a:schemeClr val="lt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sp>
        <p:nvSpPr>
          <p:cNvPr id="1010" name="Google Shape;1010;p74"/>
          <p:cNvSpPr txBox="1"/>
          <p:nvPr/>
        </p:nvSpPr>
        <p:spPr>
          <a:xfrm>
            <a:off x="845389" y="1477050"/>
            <a:ext cx="1099005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u="sng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ทบทวนหัวขัอข่าวสารที่ต้องการ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-มีกำลังทางเรือ/ทางอากาศปฏิบัติการในด้านตะวันออกของเกาะฟอล์คแลนด์หรือไม่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-กำลังทางเรือและทางอากาศ มีอะไรบ้างในระยะ ๕๐ ไมล์รอยเกาะฟอล์คแลนด์</a:t>
            </a:r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dk1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-ตำบลที่เรือดำน้ำ ณ ปัจจุบัน/ล่าสุด และออกปฏิบัติการกี่ลำ</a:t>
            </a:r>
            <a:endParaRPr sz="2400" b="1">
              <a:solidFill>
                <a:schemeClr val="dk1"/>
              </a:solidFill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</p:txBody>
      </p:sp>
      <p:graphicFrame>
        <p:nvGraphicFramePr>
          <p:cNvPr id="1011" name="Google Shape;1011;p74"/>
          <p:cNvGraphicFramePr/>
          <p:nvPr>
            <p:extLst>
              <p:ext uri="{D42A27DB-BD31-4B8C-83A1-F6EECF244321}">
                <p14:modId xmlns:p14="http://schemas.microsoft.com/office/powerpoint/2010/main" val="136835943"/>
              </p:ext>
            </p:extLst>
          </p:nvPr>
        </p:nvGraphicFramePr>
        <p:xfrm>
          <a:off x="845389" y="3069611"/>
          <a:ext cx="10800300" cy="3291880"/>
        </p:xfrm>
        <a:graphic>
          <a:graphicData uri="http://schemas.openxmlformats.org/drawingml/2006/table">
            <a:tbl>
              <a:tblPr firstRow="1" bandRow="1">
                <a:noFill/>
                <a:tableStyleId>{4E30F057-DA0B-4B6E-A13B-11780AF4890F}</a:tableStyleId>
              </a:tblPr>
              <a:tblGrid>
                <a:gridCol w="36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หัวข้อข่าวสาร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เครื่องมือในการหาข่าว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การปฏิบัติเพิ่มเติม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มีกำลังทางเรือ/ทางอากาศปฏิบัติการในด้านตะวันออกของเกาะฟอล์คแลนด์หรือไม่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ภาพถ่ายดาวเทียม / อากาศยาน / ด. / ชปพ. / ฝ่ายข่าวในพื้นที่ (MI6)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ร้องขอเครื่องมือที่ไม่มีจากหน่วยเหนือ</a:t>
                      </a:r>
                      <a:endParaRPr sz="24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กำลังทางเรือและทางอากาศ มีอะไรบ้างในระยะ ๕๐ ไมล์รอยเกาะฟอล์คแลนด์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Sarabun"/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ภาพถ่ายดาวเทียม / อากาศยาน / ด. / ชปพ. / ฝ่ายข่าวในพื้นที่ (MI6)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Sarabun"/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ร้องขอเครื่องมือที่ไม่มีจากหน่วยเหนือ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ตำบลที่เรือดำน้ำ ณ ปัจจุบัน/ล่าสุด และออกปฏิบัติการกี่ลำ</a:t>
                      </a:r>
                      <a:endParaRPr sz="2400" b="1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Sarabun"/>
                        <a:buNone/>
                      </a:pPr>
                      <a:r>
                        <a:rPr lang="th-TH" sz="2400" b="1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ภาพถ่ายดาวเทียม / อากาศยาน / ด. / ชปพ. / ฝ่ายข่าวในพื้นที่ (MI6)</a:t>
                      </a:r>
                      <a:endParaRPr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Sarabun"/>
                        <a:buNone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ea typeface="Sarabun"/>
                          <a:cs typeface="TH SarabunPSK" panose="020B0500040200020003" pitchFamily="34" charset="-34"/>
                          <a:sym typeface="Sarabun"/>
                        </a:rPr>
                        <a:t>ร้องขอเครื่องมือที่ไม่มีจากหน่วยเหนือ</a:t>
                      </a:r>
                      <a:endParaRPr sz="24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latin typeface="TH SarabunPSK" panose="020B0500040200020003" pitchFamily="34" charset="-34"/>
                        <a:ea typeface="Sarabun"/>
                        <a:cs typeface="TH SarabunPSK" panose="020B0500040200020003" pitchFamily="34" charset="-34"/>
                        <a:sym typeface="Sarabu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75" descr="A picture containing text, mountain, fog, natur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5"/>
          <p:cNvSpPr txBox="1"/>
          <p:nvPr/>
        </p:nvSpPr>
        <p:spPr>
          <a:xfrm>
            <a:off x="4323271" y="4830792"/>
            <a:ext cx="3355675" cy="14465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จบการบรรยาย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ตอบข้อซักถาม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11360</Words>
  <Application>Microsoft Office PowerPoint</Application>
  <PresentationFormat>Widescreen</PresentationFormat>
  <Paragraphs>1125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Calibri</vt:lpstr>
      <vt:lpstr>Arial</vt:lpstr>
      <vt:lpstr>Sarabun</vt:lpstr>
      <vt:lpstr>TH SarabunPSK</vt:lpstr>
      <vt:lpstr>Office Theme</vt:lpstr>
      <vt:lpstr>การแถลงผลการสัมมนา กลุ่มสัมมนาที่ ๔ หัวข้อวิชา การเตรียมสภาพแวดล้อมทางยุทธการด้านการข่าวกรองร่วม รายวิชา งานเสนาธิการกิจในการวางแผนทางทหาร ตอนวิชา การวางแผนทางทหารในการปฏิบัติการร่วม หมวดวิชา เสนาธิการกิจ หลักสูตร สธ.ทร. รุ่นที่ ๘๓ ประจำปีงบประมาณ ๒๕๖๖</vt:lpstr>
      <vt:lpstr> รายชื่อกลุ่มสัมมนากลุ่มที่ ๔</vt:lpstr>
      <vt:lpstr> หัวข้อการบรรยาย</vt:lpstr>
      <vt:lpstr> กล่าวนำ</vt:lpstr>
      <vt:lpstr> การระบุสภาพแวดล้อมทางยุทธการ</vt:lpstr>
      <vt:lpstr> กล่าวนำ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การระบุสภาพแวดล้อมทางยุทธการ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อธิบายผลกระทบของสภาพแวดล้อมทางยุทธการ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การประเมินค่าภัยคุกคาม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 การกำหนดหนทางการปฏิบัติของฝ่ายตรงข้าม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Worayuth</dc:creator>
  <cp:lastModifiedBy>21 นภเมธิ์ พ.</cp:lastModifiedBy>
  <cp:revision>1</cp:revision>
  <dcterms:created xsi:type="dcterms:W3CDTF">2023-05-20T14:07:10Z</dcterms:created>
  <dcterms:modified xsi:type="dcterms:W3CDTF">2026-05-19T04:25:04Z</dcterms:modified>
</cp:coreProperties>
</file>